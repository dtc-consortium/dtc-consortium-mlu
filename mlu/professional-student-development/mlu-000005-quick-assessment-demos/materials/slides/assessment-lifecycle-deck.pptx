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2" r:id="rId4"/>
    <p:sldMasterId id="2147483737" r:id="rId5"/>
  </p:sldMasterIdLst>
  <p:notesMasterIdLst>
    <p:notesMasterId r:id="rId54"/>
  </p:notesMasterIdLst>
  <p:handoutMasterIdLst>
    <p:handoutMasterId r:id="rId55"/>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SS" id="{CD29181B-884C-9645-943C-D9AC4CE7042A}">
          <p14:sldIdLst>
            <p14:sldId id="2147483010"/>
            <p14:sldId id="2147483468"/>
            <p14:sldId id="2147483469"/>
          </p14:sldIdLst>
        </p14:section>
        <p14:section name="Agenda and course overview" id="{2413A684-0A17-044C-B889-13CBD883B1C6}">
          <p14:sldIdLst>
            <p14:sldId id="259"/>
            <p14:sldId id="2147483447"/>
          </p14:sldIdLst>
        </p14:section>
        <p14:section name="LLM and Agentic AI" id="{C5D8F729-792E-2F43-9EC7-11A0A1844271}">
          <p14:sldIdLst>
            <p14:sldId id="2147482919"/>
            <p14:sldId id="2147483012"/>
            <p14:sldId id="2147483445"/>
            <p14:sldId id="2147483448"/>
            <p14:sldId id="2147482920"/>
            <p14:sldId id="2147482921"/>
            <p14:sldId id="2147483460"/>
            <p14:sldId id="2147482924"/>
            <p14:sldId id="2147483104"/>
            <p14:sldId id="2147482918"/>
            <p14:sldId id="2147482925"/>
            <p14:sldId id="2147483107"/>
            <p14:sldId id="2147483108"/>
            <p14:sldId id="2147482923"/>
            <p14:sldId id="2147483449"/>
            <p14:sldId id="2147482970"/>
            <p14:sldId id="2147482976"/>
          </p14:sldIdLst>
        </p14:section>
        <p14:section name="Should i use or not use agents?" id="{02D9C61A-310D-CA40-993C-39B082C475B0}">
          <p14:sldIdLst>
            <p14:sldId id="2147483450"/>
            <p14:sldId id="2147482992"/>
            <p14:sldId id="2147483451"/>
            <p14:sldId id="2147483116"/>
          </p14:sldIdLst>
        </p14:section>
        <p14:section name="Responsible AI and Agentic Evaluation" id="{DDFA1EF7-8C2E-E449-A68E-BFC2158E3196}">
          <p14:sldIdLst>
            <p14:sldId id="2147483452"/>
            <p14:sldId id="2147483441"/>
            <p14:sldId id="2147482943"/>
            <p14:sldId id="2147482942"/>
            <p14:sldId id="2147482912"/>
            <p14:sldId id="2147482889"/>
          </p14:sldIdLst>
        </p14:section>
        <p14:section name="Agentic Landscape and Orchestration Patterns" id="{186C0834-2549-FF4C-BE3E-695891BDC3A4}">
          <p14:sldIdLst>
            <p14:sldId id="2147483456"/>
            <p14:sldId id="2147483121"/>
            <p14:sldId id="2147482902"/>
          </p14:sldIdLst>
        </p14:section>
        <p14:section name="Agentic AI use-cases and applications" id="{A3AECCB6-1332-7A41-A6C5-4C48D47CB9A0}">
          <p14:sldIdLst>
            <p14:sldId id="2147483457"/>
            <p14:sldId id="2147482804"/>
            <p14:sldId id="2147482940"/>
            <p14:sldId id="2147483463"/>
            <p14:sldId id="2147482698"/>
            <p14:sldId id="2147482700"/>
            <p14:sldId id="2147482704"/>
            <p14:sldId id="2147483465"/>
            <p14:sldId id="2147483466"/>
            <p14:sldId id="2147483467"/>
          </p14:sldIdLst>
        </p14:section>
        <p14:section name="Key Takeaways" id="{0E38670B-6549-9248-9B0B-DE23F6F00CA6}">
          <p14:sldIdLst>
            <p14:sldId id="2147483459"/>
            <p14:sldId id="2147482909"/>
            <p14:sldId id="264"/>
          </p14:sldIdLst>
        </p14:section>
      </p14:sectionLst>
    </p:ext>
    <p:ext uri="{EFAFB233-063F-42B5-8137-9DF3F51BA10A}">
      <p15:sldGuideLst xmlns:p15="http://schemas.microsoft.com/office/powerpoint/2012/main">
        <p15:guide id="1" pos="480" userDrawn="1">
          <p15:clr>
            <a:srgbClr val="A4A3A4"/>
          </p15:clr>
        </p15:guide>
        <p15:guide id="2" orient="horz" pos="4008" userDrawn="1">
          <p15:clr>
            <a:srgbClr val="A4A3A4"/>
          </p15:clr>
        </p15:guide>
        <p15:guide id="3" pos="7224" userDrawn="1">
          <p15:clr>
            <a:srgbClr val="A4A3A4"/>
          </p15:clr>
        </p15:guide>
        <p15:guide id="4" orient="horz" pos="129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58941C-36CC-BFC6-4C6B-47F4305D6732}" name="Santamaria, Lucia" initials="SL" userId="S::lucsan@amazon.de::64922d52-8aee-43a6-86df-012aaac0a26b" providerId="AD"/>
  <p188:author id="{B21EF92D-48C6-282F-0031-3DC2F31D2573}" name="Kropf, Brian" initials="KB" userId="S::krobrian@amazon.com::c63af848-665c-452d-815e-8ac21dc3f11f" providerId="AD"/>
  <p188:author id="{53DC575D-4F47-FE70-A360-0B31C55311E5}" name="Ray, Shayan" initials="RS" userId="S::shayaray@amazon.com::fb48f830-8f54-4b36-a6d4-9deb707f02f7" providerId="AD"/>
  <p188:author id="{D988D46B-2990-9E28-47B4-2DE0B3363FCA}" name="dos Santos Junior, Jose Cassio" initials="dC" userId="S::jcsantos@amazon.com::af0e788e-37db-4630-baa1-2a57e9b3177b" providerId="AD"/>
  <p188:author id="{407396C3-174F-4AEE-3DB1-4F5C2D5C9FEC}" name="Blake, Daniel" initials="BD" userId="S::dnblak@amazon.com::9fc9fc08-ed9d-4095-835a-a8aabfdf3406" providerId="AD"/>
  <p188:author id="{884ABEC7-E42E-722B-A45E-254CB024DB27}" name="Bugbee, Erin" initials="BE" userId="S::ebugbee@amazon.com::02aa6560-d6c2-4459-88b5-082d005fb02d" providerId="AD"/>
  <p188:author id="{7CF3A5CE-0857-01CC-3FDE-0343B1638E93}" name="Register, Yim" initials="RY" userId="S::yimreg@amazon.com::22f041f4-ee07-4e0c-aea1-038c18855768" providerId="AD"/>
  <p188:author id="{21ACA5DA-C8B7-1391-29AB-F90CD94C96B6}" name="Kamat, Anand" initials="" userId="S::kamatana@amazon.com::db31e976-f8cf-42c9-8c9c-71f00b9d762b" providerId="AD"/>
  <p188:author id="{ED6B04E2-A56C-A5FF-8B13-8BF654F12565}" name="Barlow, Avis [C]" initials="BA" userId="S::avbarlol@amazon.com::3f9395b9-6861-4ed8-bd55-e62121c423ad" providerId="AD"/>
  <p188:author id="{8FA284E9-7BF5-FE6C-57B3-4318DE685648}" name="Fakhraei, Shobeir" initials="FS" userId="S::shobeir@amazon.com::f7a37333-1dc3-4207-9a08-b03a3725b5b5" providerId="AD"/>
  <p188:author id="{0A1E15F3-96D9-FBBF-B1EB-260643F39999}" name="Fedeli, Melania" initials="FM" userId="S::melaniaf@amazon.com::899f2b1d-3cb1-4ea8-ab90-1eca18f0d5f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2" clrIdx="0">
    <p:extLst>
      <p:ext uri="{19B8F6BF-5375-455C-9EA6-DF929625EA0E}">
        <p15:presenceInfo xmlns:p15="http://schemas.microsoft.com/office/powerpoint/2012/main" userId="Kabik, Gabri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F4F4F4"/>
    <a:srgbClr val="F6F8FF"/>
    <a:srgbClr val="CBCCD3"/>
    <a:srgbClr val="E9EAF2"/>
    <a:srgbClr val="0D65C0"/>
    <a:srgbClr val="2F5BF9"/>
    <a:srgbClr val="83CBEB"/>
    <a:srgbClr val="ED7D31"/>
    <a:srgbClr val="A97F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5E593-0E3D-364D-9AB9-6D69B73BB3F9}" v="234" dt="2026-03-13T22:20:22.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36"/>
    <p:restoredTop sz="71096"/>
  </p:normalViewPr>
  <p:slideViewPr>
    <p:cSldViewPr snapToGrid="0">
      <p:cViewPr varScale="1">
        <p:scale>
          <a:sx n="88" d="100"/>
          <a:sy n="88" d="100"/>
        </p:scale>
        <p:origin x="1768" y="184"/>
      </p:cViewPr>
      <p:guideLst>
        <p:guide pos="480"/>
        <p:guide orient="horz" pos="4008"/>
        <p:guide pos="7224"/>
        <p:guide orient="horz" pos="12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54" Type="http://schemas.openxmlformats.org/officeDocument/2006/relationships/notesMaster" Target="notesMasters/notesMaster1.xml"/><Relationship Id="rId55" Type="http://schemas.openxmlformats.org/officeDocument/2006/relationships/handoutMaster" Target="handoutMasters/handoutMaster1.xml"/><Relationship Id="rId56" Type="http://schemas.openxmlformats.org/officeDocument/2006/relationships/commentAuthors" Target="commentAuthor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microsoft.com/office/2015/10/relationships/revisionInfo" Target="revisionInfo.xml"/><Relationship Id="rId6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A2BD98-E466-4785-841B-013D193175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73A0C0-F9BF-4503-A55A-8B78FDC361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E18304-B901-4B88-88DF-6EF656D9D7C1}" type="datetimeFigureOut">
              <a:rPr lang="en-US" smtClean="0"/>
              <a:t>7/13/26</a:t>
            </a:fld>
            <a:endParaRPr lang="en-US"/>
          </a:p>
        </p:txBody>
      </p:sp>
      <p:sp>
        <p:nvSpPr>
          <p:cNvPr id="4" name="Footer Placeholder 3">
            <a:extLst>
              <a:ext uri="{FF2B5EF4-FFF2-40B4-BE49-F238E27FC236}">
                <a16:creationId xmlns:a16="http://schemas.microsoft.com/office/drawing/2014/main" id="{029B3E4A-6B2A-4ABE-8D7B-04D6EF6B06D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251C-DB54-4706-A170-57A324D0B0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F12647-BAC8-434E-9FB1-B57A423DD2BC}" type="slidenum">
              <a:rPr lang="en-US" smtClean="0"/>
              <a:t>‹#›</a:t>
            </a:fld>
            <a:endParaRPr lang="en-US"/>
          </a:p>
        </p:txBody>
      </p:sp>
    </p:spTree>
    <p:extLst>
      <p:ext uri="{BB962C8B-B14F-4D97-AF65-F5344CB8AC3E}">
        <p14:creationId xmlns:p14="http://schemas.microsoft.com/office/powerpoint/2010/main" val="3165263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A8328-E889-9144-BC08-449A0A7882B8}" type="datetimeFigureOut">
              <a:rPr lang="en-US" smtClean="0"/>
              <a:t>7/13/26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E715F-FB35-DA4C-8E4A-393E633F1B0F}" type="slidenum">
              <a:rPr lang="en-US" smtClean="0"/>
              <a:t>‹#›</a:t>
            </a:fld>
            <a:endParaRPr lang="en-US"/>
          </a:p>
        </p:txBody>
      </p:sp>
    </p:spTree>
    <p:extLst>
      <p:ext uri="{BB962C8B-B14F-4D97-AF65-F5344CB8AC3E}">
        <p14:creationId xmlns:p14="http://schemas.microsoft.com/office/powerpoint/2010/main" val="145995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Ninety minutes, four tools, one assignment. Everything you'll see runs on synthetic student work, and by the end you'll have used two of the tools on your own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are circulating. While the room signs in, everyone grades Marcus's paper using only the rubric on the handout. Hard stop at 12 minutes — anyone still stuck pairs with a neighbor.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segments are hands-on. The Kiro segment is a demo — you watch the spec get reviewed, then the grader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poll, not a quiz. Count hands for each letter and say the result out loud; a volunteer writes the tally down — you need it on slide 11. Most rooms land on B. Reveal nothing: if a CS faculty member spots the errors, ask them to hold it for slide 12.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rubric, harden the assignment, grade against it, and let students self-check before they submit. The same assignment and the same rubric run through all four.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sophomore data-structures paper. Most of you aren't CS faculty, and that's the point: watch what the rubric makes visible to a grader who isn't an expert.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student is here to test one thing. Aisha is the control. Marcus is the fluent, wrong paper. Priya is the reflection. Leila is the draft that shows what Partial looks like. Diego tests whether the grader notices someone who submitted nothing.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 Six minutes of demo, then twelve minutes on your own assignment.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rubric you just used. It's a very normal rubric. 60 of the 100 points go to organization, mechanics, and length — things anyone can see. 'Understanding' is never defined, and nothing asks whether a single claim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in Amazon Quick Apps with no code. The 'present when' line is the part most rubrics don't have — it says what has to be on the page for a criterion to count as attempted, and it's what Triage uses in the last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Marcus through the Stress Test tab live. Compare with the room's vote from the start. REHEARSAL: replace these hand-scored numbers with the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confident sentences, three errors, each contradicted by a specific line in the course reading. The weak rubric never asked anyone to check. The generated rubric's correctness criterion names what correct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minutes. Volunteers float. Anyone without an assignment handy can use the sample assignment. Save the rubric — you'll use it again in AI-Proofing and Triage.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hands-on, on the assignment you just built a rubric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first, then the tool. The best revisions tie the work to your course, your class, or the student's own process. BUILD: align these steps with the final AI-Proofing app.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presenter-driven demo — attendees watch; Kiro isn't on your machines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Kiro writes the requirements before any code. Ask the room which criterion can't be tested. Answer: ② — 'fairly' has no pass/fail test. Fixing it in the spec costs a sentence; fixing it after the code exists costs a rebuild.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carry the grader. The model never does arithmetic. 'Correct' is judged against your course material. And a missing student is surfaced, not skipped.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grader on all five. Point at Marcus (caught), and Diego (flagged, not scored). REHEARSAL: replace with the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B. The one live build step of the 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Paste this line into the Quick app builder live. It extends the grading app into a student-facing triage mode. The strongest guarantee it can't score is that it never reads the weights.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paper, two modes. Triage shows Missing four times while there's still time to fix it. Grade mode shows the F it would have been. Then show Leila: Partial is what an honest unfinished draft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limit out loud before someone asks. Triage checks that a thing is there, not that it's right — that's the grader's job, and yours.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attacks the student-facing app from their own seat. Collect anything that gets through — it goes straight into the guardrail test script.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 Triage to the rubric you built in the first hands-on. A three-sentence fake draft is enough to see Present, Partial, and Missing.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you made today, plus the kit to make them again.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that travel with every tool you saw today.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1.wdp"/><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8.png"/><Relationship Id="rId4"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2.xml"/><Relationship Id="rId3"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Course Title">
    <p:bg>
      <p:bgPr>
        <a:gradFill flip="none" rotWithShape="1">
          <a:gsLst>
            <a:gs pos="40000">
              <a:schemeClr val="tx2"/>
            </a:gs>
            <a:gs pos="0">
              <a:schemeClr val="tx1"/>
            </a:gs>
            <a:gs pos="100000">
              <a:schemeClr val="accent1"/>
            </a:gs>
            <a:gs pos="74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040F-6D1B-4D4A-912D-B0B2C078D0D9}"/>
              </a:ext>
            </a:extLst>
          </p:cNvPr>
          <p:cNvSpPr>
            <a:spLocks noGrp="1"/>
          </p:cNvSpPr>
          <p:nvPr>
            <p:ph type="title" hasCustomPrompt="1"/>
          </p:nvPr>
        </p:nvSpPr>
        <p:spPr>
          <a:xfrm>
            <a:off x="609461" y="1497638"/>
            <a:ext cx="10515600" cy="1838594"/>
          </a:xfrm>
          <a:prstGeom prst="rect">
            <a:avLst/>
          </a:prstGeom>
          <a:noFill/>
        </p:spPr>
        <p:txBody>
          <a:bodyPr anchor="b"/>
          <a:lstStyle>
            <a:lvl1pPr fontAlgn="t">
              <a:defRPr sz="6000">
                <a:solidFill>
                  <a:schemeClr val="bg1"/>
                </a:solidFill>
              </a:defRPr>
            </a:lvl1pPr>
          </a:lstStyle>
          <a:p>
            <a:r>
              <a:rPr lang="en-US"/>
              <a:t>[Course Title]</a:t>
            </a:r>
          </a:p>
        </p:txBody>
      </p:sp>
      <p:sp>
        <p:nvSpPr>
          <p:cNvPr id="3" name="Text Placeholder 2">
            <a:extLst>
              <a:ext uri="{FF2B5EF4-FFF2-40B4-BE49-F238E27FC236}">
                <a16:creationId xmlns:a16="http://schemas.microsoft.com/office/drawing/2014/main" id="{F22FD542-D5D7-DD49-81BB-5A2F9282132B}"/>
              </a:ext>
            </a:extLst>
          </p:cNvPr>
          <p:cNvSpPr>
            <a:spLocks noGrp="1"/>
          </p:cNvSpPr>
          <p:nvPr>
            <p:ph type="body" idx="1"/>
          </p:nvPr>
        </p:nvSpPr>
        <p:spPr>
          <a:xfrm>
            <a:off x="609461" y="3429000"/>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45E0761E-EF4D-3FBD-8B61-46FEBE305AB3}"/>
              </a:ext>
            </a:extLst>
          </p:cNvPr>
          <p:cNvPicPr>
            <a:picLocks noChangeAspect="1"/>
          </p:cNvPicPr>
          <p:nvPr userDrawn="1"/>
        </p:nvPicPr>
        <p:blipFill>
          <a:blip r:embed="rId2">
            <a:alphaModFix amt="15000"/>
          </a:blip>
          <a:stretch>
            <a:fillRect/>
          </a:stretch>
        </p:blipFill>
        <p:spPr>
          <a:xfrm>
            <a:off x="6657654" y="1497638"/>
            <a:ext cx="5997354" cy="5360362"/>
          </a:xfrm>
          <a:prstGeom prst="rect">
            <a:avLst/>
          </a:prstGeom>
        </p:spPr>
      </p:pic>
    </p:spTree>
    <p:extLst>
      <p:ext uri="{BB962C8B-B14F-4D97-AF65-F5344CB8AC3E}">
        <p14:creationId xmlns:p14="http://schemas.microsoft.com/office/powerpoint/2010/main" val="260626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2494517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ctivity Title">
    <p:bg>
      <p:bgPr>
        <a:gradFill flip="none" rotWithShape="1">
          <a:gsLst>
            <a:gs pos="0">
              <a:schemeClr val="accent3">
                <a:lumMod val="100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3145743"/>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[Activity Title]</a:t>
            </a:r>
          </a:p>
        </p:txBody>
      </p:sp>
      <p:sp>
        <p:nvSpPr>
          <p:cNvPr id="14" name="Subtitle 2">
            <a:extLst>
              <a:ext uri="{FF2B5EF4-FFF2-40B4-BE49-F238E27FC236}">
                <a16:creationId xmlns:a16="http://schemas.microsoft.com/office/drawing/2014/main" id="{1788C7AA-24CE-487D-9284-84D52CA9D043}"/>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Tree>
    <p:extLst>
      <p:ext uri="{BB962C8B-B14F-4D97-AF65-F5344CB8AC3E}">
        <p14:creationId xmlns:p14="http://schemas.microsoft.com/office/powerpoint/2010/main" val="2344982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319565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1997669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image slid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558745-4E5D-4151-AAE0-AE93A548094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and Image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5447773"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sp>
        <p:nvSpPr>
          <p:cNvPr id="3" name="Picture Placeholder 2">
            <a:extLst>
              <a:ext uri="{FF2B5EF4-FFF2-40B4-BE49-F238E27FC236}">
                <a16:creationId xmlns:a16="http://schemas.microsoft.com/office/drawing/2014/main" id="{49529AC5-CC0F-E4E6-7480-1E3BB238C4A1}"/>
              </a:ext>
            </a:extLst>
          </p:cNvPr>
          <p:cNvSpPr>
            <a:spLocks noGrp="1"/>
          </p:cNvSpPr>
          <p:nvPr>
            <p:ph type="pic" sz="quarter" idx="13"/>
          </p:nvPr>
        </p:nvSpPr>
        <p:spPr>
          <a:xfrm>
            <a:off x="6744227" y="1673225"/>
            <a:ext cx="4832422" cy="3483237"/>
          </a:xfrm>
        </p:spPr>
        <p:txBody>
          <a:bodyPr/>
          <a:lstStyle>
            <a:lvl1pPr marL="0" indent="0">
              <a:buFont typeface="Arial" panose="020B0604020202020204" pitchFamily="34" charset="0"/>
              <a:buNone/>
              <a:defRPr/>
            </a:lvl1pPr>
          </a:lstStyle>
          <a:p>
            <a:endParaRPr lang="en-US"/>
          </a:p>
        </p:txBody>
      </p:sp>
      <p:sp>
        <p:nvSpPr>
          <p:cNvPr id="6" name="Text Placeholder 5">
            <a:extLst>
              <a:ext uri="{FF2B5EF4-FFF2-40B4-BE49-F238E27FC236}">
                <a16:creationId xmlns:a16="http://schemas.microsoft.com/office/drawing/2014/main" id="{DA310896-6DE7-316A-2975-9F4856A3492A}"/>
              </a:ext>
            </a:extLst>
          </p:cNvPr>
          <p:cNvSpPr>
            <a:spLocks noGrp="1"/>
          </p:cNvSpPr>
          <p:nvPr>
            <p:ph type="body" sz="quarter" idx="14"/>
          </p:nvPr>
        </p:nvSpPr>
        <p:spPr>
          <a:xfrm>
            <a:off x="6743629" y="5480050"/>
            <a:ext cx="4832422" cy="584200"/>
          </a:xfrm>
        </p:spPr>
        <p:txBody>
          <a:bodyPr>
            <a:normAutofit/>
          </a:bodyPr>
          <a:lstStyle>
            <a:lvl1pPr marL="0" indent="0">
              <a:buFont typeface="Arial" panose="020B0604020202020204" pitchFamily="34" charset="0"/>
              <a:buNone/>
              <a:defRPr sz="1800" b="0" i="0">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pic>
        <p:nvPicPr>
          <p:cNvPr id="7" name="Picture 6">
            <a:extLst>
              <a:ext uri="{FF2B5EF4-FFF2-40B4-BE49-F238E27FC236}">
                <a16:creationId xmlns:a16="http://schemas.microsoft.com/office/drawing/2014/main" id="{4FA9899C-C561-C332-3479-41731C1F6DE3}"/>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4" name="TextBox 13">
            <a:extLst>
              <a:ext uri="{FF2B5EF4-FFF2-40B4-BE49-F238E27FC236}">
                <a16:creationId xmlns:a16="http://schemas.microsoft.com/office/drawing/2014/main" id="{2B049207-0B43-4C80-A322-ABE42B6615BA}"/>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219259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5962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7919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o Header">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7" name="Text Placeholder 2">
            <a:extLst>
              <a:ext uri="{FF2B5EF4-FFF2-40B4-BE49-F238E27FC236}">
                <a16:creationId xmlns:a16="http://schemas.microsoft.com/office/drawing/2014/main" id="{14D1B3DC-A5F0-4A0D-A9A1-14F5E69B02D7}"/>
              </a:ext>
            </a:extLst>
          </p:cNvPr>
          <p:cNvSpPr>
            <a:spLocks noGrp="1"/>
          </p:cNvSpPr>
          <p:nvPr>
            <p:ph idx="1" hasCustomPrompt="1"/>
          </p:nvPr>
        </p:nvSpPr>
        <p:spPr>
          <a:xfrm>
            <a:off x="648227" y="537882"/>
            <a:ext cx="10928422" cy="5526488"/>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a:p>
            <a:pPr lvl="3"/>
            <a:endParaRPr lang="en-US"/>
          </a:p>
        </p:txBody>
      </p:sp>
      <p:pic>
        <p:nvPicPr>
          <p:cNvPr id="3" name="Picture 2">
            <a:extLst>
              <a:ext uri="{FF2B5EF4-FFF2-40B4-BE49-F238E27FC236}">
                <a16:creationId xmlns:a16="http://schemas.microsoft.com/office/drawing/2014/main" id="{A62E6522-EF7C-BC9D-5D5C-781C398C041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8" name="TextBox 7">
            <a:extLst>
              <a:ext uri="{FF2B5EF4-FFF2-40B4-BE49-F238E27FC236}">
                <a16:creationId xmlns:a16="http://schemas.microsoft.com/office/drawing/2014/main" id="{348D7B4F-9EBF-400D-813B-C4E0A8A3179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330142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pic>
        <p:nvPicPr>
          <p:cNvPr id="3" name="Picture 2">
            <a:extLst>
              <a:ext uri="{FF2B5EF4-FFF2-40B4-BE49-F238E27FC236}">
                <a16:creationId xmlns:a16="http://schemas.microsoft.com/office/drawing/2014/main" id="{93BDB192-FC80-89F6-D998-134DADD74546}"/>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7" name="TextBox 6">
            <a:extLst>
              <a:ext uri="{FF2B5EF4-FFF2-40B4-BE49-F238E27FC236}">
                <a16:creationId xmlns:a16="http://schemas.microsoft.com/office/drawing/2014/main" id="{FA9DC450-B302-4DB4-B7BE-B27D593E68E4}"/>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80485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24327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1958381-5D12-7202-D462-99B9F1956C3C}"/>
              </a:ext>
            </a:extLst>
          </p:cNvPr>
          <p:cNvGrpSpPr/>
          <p:nvPr userDrawn="1"/>
        </p:nvGrpSpPr>
        <p:grpSpPr>
          <a:xfrm>
            <a:off x="3090139" y="758094"/>
            <a:ext cx="6011721" cy="5341812"/>
            <a:chOff x="3090139" y="758094"/>
            <a:chExt cx="6011721" cy="5341812"/>
          </a:xfrm>
          <a:solidFill>
            <a:schemeClr val="tx1"/>
          </a:solidFill>
        </p:grpSpPr>
        <p:cxnSp>
          <p:nvCxnSpPr>
            <p:cNvPr id="4" name="Straight Connector 3">
              <a:extLst>
                <a:ext uri="{FF2B5EF4-FFF2-40B4-BE49-F238E27FC236}">
                  <a16:creationId xmlns:a16="http://schemas.microsoft.com/office/drawing/2014/main" id="{8F097BE1-2A57-21B9-DA83-1789664F935A}"/>
                </a:ext>
              </a:extLst>
            </p:cNvPr>
            <p:cNvCxnSpPr>
              <a:cxnSpLocks/>
            </p:cNvCxnSpPr>
            <p:nvPr/>
          </p:nvCxnSpPr>
          <p:spPr>
            <a:xfrm>
              <a:off x="3090139" y="758094"/>
              <a:ext cx="6011721"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BC4B2BB-99A0-C681-E82C-CA0B904E61BB}"/>
                </a:ext>
              </a:extLst>
            </p:cNvPr>
            <p:cNvCxnSpPr>
              <a:cxnSpLocks/>
            </p:cNvCxnSpPr>
            <p:nvPr/>
          </p:nvCxnSpPr>
          <p:spPr>
            <a:xfrm>
              <a:off x="3639989" y="758094"/>
              <a:ext cx="0" cy="1018518"/>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5FC5285-A882-7DB5-591D-CD325525661C}"/>
                </a:ext>
              </a:extLst>
            </p:cNvPr>
            <p:cNvCxnSpPr>
              <a:cxnSpLocks/>
            </p:cNvCxnSpPr>
            <p:nvPr/>
          </p:nvCxnSpPr>
          <p:spPr>
            <a:xfrm>
              <a:off x="4311034" y="758094"/>
              <a:ext cx="0" cy="270068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4910E1-6AC0-4356-3460-41AE98A639F3}"/>
                </a:ext>
              </a:extLst>
            </p:cNvPr>
            <p:cNvCxnSpPr>
              <a:cxnSpLocks/>
            </p:cNvCxnSpPr>
            <p:nvPr/>
          </p:nvCxnSpPr>
          <p:spPr>
            <a:xfrm>
              <a:off x="4311034" y="3458776"/>
              <a:ext cx="3613746" cy="1"/>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DEC317F-DBE3-1A8B-B692-56D7692FECEF}"/>
                </a:ext>
              </a:extLst>
            </p:cNvPr>
            <p:cNvCxnSpPr>
              <a:cxnSpLocks/>
            </p:cNvCxnSpPr>
            <p:nvPr/>
          </p:nvCxnSpPr>
          <p:spPr>
            <a:xfrm>
              <a:off x="7924780" y="758094"/>
              <a:ext cx="0" cy="270068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FFADA6E-CBDD-8466-CB95-54219FBEBE26}"/>
                </a:ext>
              </a:extLst>
            </p:cNvPr>
            <p:cNvCxnSpPr>
              <a:cxnSpLocks/>
            </p:cNvCxnSpPr>
            <p:nvPr/>
          </p:nvCxnSpPr>
          <p:spPr>
            <a:xfrm>
              <a:off x="4762065" y="3857506"/>
              <a:ext cx="0" cy="936012"/>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6C7301B-A8D2-5980-C7D9-E438B273E2E0}"/>
                </a:ext>
              </a:extLst>
            </p:cNvPr>
            <p:cNvCxnSpPr>
              <a:cxnSpLocks/>
            </p:cNvCxnSpPr>
            <p:nvPr/>
          </p:nvCxnSpPr>
          <p:spPr>
            <a:xfrm>
              <a:off x="7479250" y="3857506"/>
              <a:ext cx="0" cy="936012"/>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0E196E-E32C-660B-8CF1-8CA9EA68802E}"/>
                </a:ext>
              </a:extLst>
            </p:cNvPr>
            <p:cNvCxnSpPr>
              <a:cxnSpLocks/>
            </p:cNvCxnSpPr>
            <p:nvPr/>
          </p:nvCxnSpPr>
          <p:spPr>
            <a:xfrm>
              <a:off x="5213096" y="3458778"/>
              <a:ext cx="0" cy="1683115"/>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0DF344-269F-2997-47C3-1070ABE7317F}"/>
                </a:ext>
              </a:extLst>
            </p:cNvPr>
            <p:cNvCxnSpPr>
              <a:cxnSpLocks/>
            </p:cNvCxnSpPr>
            <p:nvPr/>
          </p:nvCxnSpPr>
          <p:spPr>
            <a:xfrm>
              <a:off x="7017218" y="3458776"/>
              <a:ext cx="0" cy="1683116"/>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56C0EE9-29DD-80BE-C505-C2C22BC3895C}"/>
                </a:ext>
              </a:extLst>
            </p:cNvPr>
            <p:cNvCxnSpPr>
              <a:cxnSpLocks/>
            </p:cNvCxnSpPr>
            <p:nvPr/>
          </p:nvCxnSpPr>
          <p:spPr>
            <a:xfrm>
              <a:off x="4311034" y="1506145"/>
              <a:ext cx="3613746"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DAC154-2CBB-E3E6-A5C4-1F6D4E0E9C6C}"/>
                </a:ext>
              </a:extLst>
            </p:cNvPr>
            <p:cNvCxnSpPr>
              <a:cxnSpLocks/>
            </p:cNvCxnSpPr>
            <p:nvPr/>
          </p:nvCxnSpPr>
          <p:spPr>
            <a:xfrm>
              <a:off x="5213096" y="5141892"/>
              <a:ext cx="1804123" cy="0"/>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B7CCE8-6B86-C037-D374-63680A029078}"/>
                </a:ext>
              </a:extLst>
            </p:cNvPr>
            <p:cNvCxnSpPr>
              <a:cxnSpLocks/>
            </p:cNvCxnSpPr>
            <p:nvPr/>
          </p:nvCxnSpPr>
          <p:spPr>
            <a:xfrm>
              <a:off x="6513384" y="5141892"/>
              <a:ext cx="0" cy="95801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4821B3-9A01-7517-D4E9-9A2621E660EC}"/>
                </a:ext>
              </a:extLst>
            </p:cNvPr>
            <p:cNvCxnSpPr>
              <a:cxnSpLocks/>
            </p:cNvCxnSpPr>
            <p:nvPr/>
          </p:nvCxnSpPr>
          <p:spPr>
            <a:xfrm>
              <a:off x="5719130" y="5141892"/>
              <a:ext cx="0" cy="958014"/>
            </a:xfrm>
            <a:prstGeom prst="line">
              <a:avLst/>
            </a:prstGeom>
            <a:grpFill/>
            <a:ln w="3175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C8D6DCF-2098-A0C2-8F8C-2BE778F25AE5}"/>
                </a:ext>
              </a:extLst>
            </p:cNvPr>
            <p:cNvSpPr/>
            <p:nvPr/>
          </p:nvSpPr>
          <p:spPr>
            <a:xfrm>
              <a:off x="6516686" y="2203855"/>
              <a:ext cx="555045" cy="555046"/>
            </a:xfrm>
            <a:prstGeom prst="ellipse">
              <a:avLst/>
            </a:prstGeom>
            <a:grpFill/>
            <a:ln w="317500"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8" name="Oval 17">
              <a:extLst>
                <a:ext uri="{FF2B5EF4-FFF2-40B4-BE49-F238E27FC236}">
                  <a16:creationId xmlns:a16="http://schemas.microsoft.com/office/drawing/2014/main" id="{B6FE7954-03CA-0990-EF25-01ABB307A8AE}"/>
                </a:ext>
              </a:extLst>
            </p:cNvPr>
            <p:cNvSpPr/>
            <p:nvPr/>
          </p:nvSpPr>
          <p:spPr>
            <a:xfrm>
              <a:off x="5147583" y="2206024"/>
              <a:ext cx="555045" cy="555046"/>
            </a:xfrm>
            <a:prstGeom prst="ellipse">
              <a:avLst/>
            </a:prstGeom>
            <a:grpFill/>
            <a:ln w="317500" cap="rnd">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Tree>
    <p:extLst>
      <p:ext uri="{BB962C8B-B14F-4D97-AF65-F5344CB8AC3E}">
        <p14:creationId xmlns:p14="http://schemas.microsoft.com/office/powerpoint/2010/main" val="211776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Module 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52CF82-20B9-47BF-925B-636240644F92}"/>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bright="40000" contrast="40000"/>
                    </a14:imgEffect>
                  </a14:imgLayer>
                </a14:imgProps>
              </a:ext>
            </a:extLst>
          </a:blip>
          <a:srcRect/>
          <a:stretch/>
        </p:blipFill>
        <p:spPr>
          <a:xfrm>
            <a:off x="0" y="0"/>
            <a:ext cx="12192000" cy="6850856"/>
          </a:xfrm>
          <a:prstGeom prst="rect">
            <a:avLst/>
          </a:prstGeom>
        </p:spPr>
      </p:pic>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981693" y="3054952"/>
            <a:ext cx="10228613" cy="748095"/>
          </a:xfrm>
          <a:prstGeom prst="rect">
            <a:avLst/>
          </a:prstGeom>
        </p:spPr>
        <p:txBody>
          <a:bodyPr anchor="b">
            <a:noAutofit/>
          </a:bodyPr>
          <a:lstStyle>
            <a:lvl1pPr algn="ctr">
              <a:defRPr sz="5400" baseline="0">
                <a:solidFill>
                  <a:schemeClr val="tx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Module [#]: [Module title]</a:t>
            </a:r>
          </a:p>
        </p:txBody>
      </p:sp>
      <p:sp>
        <p:nvSpPr>
          <p:cNvPr id="3" name="Subtitle 2">
            <a:extLst>
              <a:ext uri="{FF2B5EF4-FFF2-40B4-BE49-F238E27FC236}">
                <a16:creationId xmlns:a16="http://schemas.microsoft.com/office/drawing/2014/main" id="{CF3CF3B5-FF49-6B47-9C41-1F3CF8BA1272}"/>
              </a:ext>
            </a:extLst>
          </p:cNvPr>
          <p:cNvSpPr>
            <a:spLocks noGrp="1"/>
          </p:cNvSpPr>
          <p:nvPr>
            <p:ph type="subTitle" idx="1" hasCustomPrompt="1"/>
          </p:nvPr>
        </p:nvSpPr>
        <p:spPr>
          <a:xfrm>
            <a:off x="981693" y="3744098"/>
            <a:ext cx="10228613" cy="606994"/>
          </a:xfrm>
        </p:spPr>
        <p:txBody>
          <a:bodyPr>
            <a:noAutofit/>
          </a:bodyPr>
          <a:lstStyle>
            <a:lvl1pPr marL="0" indent="0" algn="ctr">
              <a:buNone/>
              <a:defRPr sz="3600" baseline="0">
                <a:solidFill>
                  <a:schemeClr val="tx2"/>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[Module subheading (if applicable)]</a:t>
            </a:r>
          </a:p>
        </p:txBody>
      </p:sp>
      <p:pic>
        <p:nvPicPr>
          <p:cNvPr id="11" name="Picture 10">
            <a:extLst>
              <a:ext uri="{FF2B5EF4-FFF2-40B4-BE49-F238E27FC236}">
                <a16:creationId xmlns:a16="http://schemas.microsoft.com/office/drawing/2014/main" id="{C54F5136-A561-4A83-A064-ED787A9B96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8808" y="505908"/>
            <a:ext cx="5578238" cy="983254"/>
          </a:xfrm>
          <a:prstGeom prst="rect">
            <a:avLst/>
          </a:prstGeom>
        </p:spPr>
      </p:pic>
    </p:spTree>
    <p:extLst>
      <p:ext uri="{BB962C8B-B14F-4D97-AF65-F5344CB8AC3E}">
        <p14:creationId xmlns:p14="http://schemas.microsoft.com/office/powerpoint/2010/main" val="367408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 or Diagram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BC7C07F-513F-9C4B-BBE9-29404CEBFB0B}"/>
              </a:ext>
            </a:extLst>
          </p:cNvPr>
          <p:cNvPicPr>
            <a:picLocks noChangeAspect="1"/>
          </p:cNvPicPr>
          <p:nvPr userDrawn="1"/>
        </p:nvPicPr>
        <p:blipFill>
          <a:blip r:embed="rId2"/>
          <a:srcRect/>
          <a:stretch/>
        </p:blipFill>
        <p:spPr>
          <a:xfrm>
            <a:off x="0" y="0"/>
            <a:ext cx="12192000" cy="1384300"/>
          </a:xfrm>
          <a:prstGeom prst="rect">
            <a:avLst/>
          </a:prstGeom>
        </p:spPr>
      </p:pic>
      <p:pic>
        <p:nvPicPr>
          <p:cNvPr id="9" name="Picture 8">
            <a:extLst>
              <a:ext uri="{FF2B5EF4-FFF2-40B4-BE49-F238E27FC236}">
                <a16:creationId xmlns:a16="http://schemas.microsoft.com/office/drawing/2014/main" id="{DA5CADB4-6EC2-F048-B790-E1E1082FEE30}"/>
              </a:ext>
            </a:extLst>
          </p:cNvPr>
          <p:cNvPicPr>
            <a:picLocks noChangeAspect="1"/>
          </p:cNvPicPr>
          <p:nvPr userDrawn="1"/>
        </p:nvPicPr>
        <p:blipFill>
          <a:blip r:embed="rId3"/>
          <a:stretch>
            <a:fillRect/>
          </a:stretch>
        </p:blipFill>
        <p:spPr>
          <a:xfrm>
            <a:off x="10332339" y="6356866"/>
            <a:ext cx="1662976" cy="319611"/>
          </a:xfrm>
          <a:prstGeom prst="rect">
            <a:avLst/>
          </a:prstGeom>
        </p:spPr>
      </p:pic>
      <p:sp>
        <p:nvSpPr>
          <p:cNvPr id="5" name="Footer Placeholder 4">
            <a:extLst>
              <a:ext uri="{FF2B5EF4-FFF2-40B4-BE49-F238E27FC236}">
                <a16:creationId xmlns:a16="http://schemas.microsoft.com/office/drawing/2014/main" id="{F00F31F0-E5DB-3145-BBA8-08D627B14CCC}"/>
              </a:ext>
            </a:extLst>
          </p:cNvPr>
          <p:cNvSpPr>
            <a:spLocks noGrp="1"/>
          </p:cNvSpPr>
          <p:nvPr>
            <p:ph type="ftr" sz="quarter" idx="11"/>
          </p:nvPr>
        </p:nvSpPr>
        <p:spPr>
          <a:xfrm>
            <a:off x="648227" y="6356350"/>
            <a:ext cx="4114800" cy="365125"/>
          </a:xfrm>
          <a:prstGeom prst="rect">
            <a:avLst/>
          </a:prstGeom>
        </p:spPr>
        <p:txBody>
          <a:bodyPr/>
          <a:lstStyle/>
          <a:p>
            <a:endParaRPr lang="en-US"/>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5" y="6356866"/>
            <a:ext cx="2743200" cy="365125"/>
          </a:xfrm>
          <a:prstGeom prst="rect">
            <a:avLst/>
          </a:prstGeom>
        </p:spPr>
        <p:txBody>
          <a:bodyPr/>
          <a:lstStyle>
            <a:lvl1pPr algn="r">
              <a:defRPr sz="1400"/>
            </a:lvl1pPr>
          </a:lstStyle>
          <a:p>
            <a:fld id="{2613A35D-97EF-7A48-AACF-97D95E22C11E}" type="slidenum">
              <a:rPr lang="en-US" smtClean="0"/>
              <a:pPr/>
              <a:t>‹#›</a:t>
            </a:fld>
            <a:endParaRPr lang="en-US"/>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403225" indent="-403225" defTabSz="91440">
              <a:lnSpc>
                <a:spcPct val="100000"/>
              </a:lnSpc>
              <a:spcBef>
                <a:spcPts val="0"/>
              </a:spcBef>
              <a:spcAft>
                <a:spcPts val="600"/>
              </a:spcAft>
              <a:buClr>
                <a:srgbClr val="1D212E"/>
              </a:buClr>
              <a:buSzPct val="110000"/>
              <a:buFontTx/>
              <a:buBlip>
                <a:blip>
                  <a:extLst>
                    <a:ext uri="{96DAC541-7B7A-43D3-8B79-37D633B846F1}">
                      <asvg:svgBlip xmlns:asvg="http://schemas.microsoft.com/office/drawing/2016/SVG/main" r:embed="rId4"/>
                    </a:ext>
                  </a:extLst>
                </a:blip>
              </a:buBlip>
              <a:tabLst>
                <a:tab pos="227013" algn="l"/>
              </a:tabLst>
              <a:defRPr sz="28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905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74725"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5888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First level</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271077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Blue Gray">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9324683-C27D-EE41-B298-327C1D43CE7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46D31CE5-C12B-435B-BDC2-422CF0FB9AEA}"/>
              </a:ext>
            </a:extLst>
          </p:cNvPr>
          <p:cNvSpPr/>
          <p:nvPr userDrawn="1"/>
        </p:nvSpPr>
        <p:spPr>
          <a:xfrm>
            <a:off x="0" y="1378604"/>
            <a:ext cx="12192000" cy="5479396"/>
          </a:xfrm>
          <a:prstGeom prst="rect">
            <a:avLst/>
          </a:pr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BC7C07F-513F-9C4B-BBE9-29404CEBFB0B}"/>
              </a:ext>
            </a:extLst>
          </p:cNvPr>
          <p:cNvPicPr>
            <a:picLocks noChangeAspect="1"/>
          </p:cNvPicPr>
          <p:nvPr userDrawn="1"/>
        </p:nvPicPr>
        <p:blipFill>
          <a:blip r:embed="rId3"/>
          <a:srcRect/>
          <a:stretch/>
        </p:blipFill>
        <p:spPr>
          <a:xfrm>
            <a:off x="0" y="0"/>
            <a:ext cx="12192000" cy="1384300"/>
          </a:xfrm>
          <a:prstGeom prst="rect">
            <a:avLst/>
          </a:prstGeom>
        </p:spPr>
      </p:pic>
      <p:pic>
        <p:nvPicPr>
          <p:cNvPr id="9" name="Picture 8">
            <a:extLst>
              <a:ext uri="{FF2B5EF4-FFF2-40B4-BE49-F238E27FC236}">
                <a16:creationId xmlns:a16="http://schemas.microsoft.com/office/drawing/2014/main" id="{DA5CADB4-6EC2-F048-B790-E1E1082FEE30}"/>
              </a:ext>
            </a:extLst>
          </p:cNvPr>
          <p:cNvPicPr>
            <a:picLocks noChangeAspect="1"/>
          </p:cNvPicPr>
          <p:nvPr userDrawn="1"/>
        </p:nvPicPr>
        <p:blipFill>
          <a:blip r:embed="rId4"/>
          <a:stretch>
            <a:fillRect/>
          </a:stretch>
        </p:blipFill>
        <p:spPr>
          <a:xfrm>
            <a:off x="10332339" y="6356866"/>
            <a:ext cx="1662976" cy="319611"/>
          </a:xfrm>
          <a:prstGeom prst="rect">
            <a:avLst/>
          </a:prstGeom>
        </p:spPr>
      </p:pic>
      <p:sp>
        <p:nvSpPr>
          <p:cNvPr id="5" name="Footer Placeholder 4">
            <a:extLst>
              <a:ext uri="{FF2B5EF4-FFF2-40B4-BE49-F238E27FC236}">
                <a16:creationId xmlns:a16="http://schemas.microsoft.com/office/drawing/2014/main" id="{F00F31F0-E5DB-3145-BBA8-08D627B14CCC}"/>
              </a:ext>
            </a:extLst>
          </p:cNvPr>
          <p:cNvSpPr>
            <a:spLocks noGrp="1"/>
          </p:cNvSpPr>
          <p:nvPr>
            <p:ph type="ftr" sz="quarter" idx="11"/>
          </p:nvPr>
        </p:nvSpPr>
        <p:spPr>
          <a:xfrm>
            <a:off x="648227" y="6356350"/>
            <a:ext cx="4114800" cy="365125"/>
          </a:xfrm>
          <a:prstGeom prst="rect">
            <a:avLst/>
          </a:prstGeom>
        </p:spPr>
        <p:txBody>
          <a:bodyPr/>
          <a:lstStyle/>
          <a:p>
            <a:endParaRPr lang="en-US"/>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5" y="6356866"/>
            <a:ext cx="2743200" cy="365125"/>
          </a:xfrm>
          <a:prstGeom prst="rect">
            <a:avLst/>
          </a:prstGeom>
        </p:spPr>
        <p:txBody>
          <a:bodyPr/>
          <a:lstStyle>
            <a:lvl1pPr algn="r">
              <a:defRPr sz="1400">
                <a:solidFill>
                  <a:schemeClr val="tx1"/>
                </a:solidFill>
              </a:defRPr>
            </a:lvl1pPr>
          </a:lstStyle>
          <a:p>
            <a:fld id="{2613A35D-97EF-7A48-AACF-97D95E22C11E}" type="slidenum">
              <a:rPr lang="en-US" smtClean="0"/>
              <a:pPr/>
              <a:t>‹#›</a:t>
            </a:fld>
            <a:endParaRPr lang="en-US"/>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403225" indent="-403225" defTabSz="91440">
              <a:lnSpc>
                <a:spcPct val="100000"/>
              </a:lnSpc>
              <a:spcBef>
                <a:spcPts val="0"/>
              </a:spcBef>
              <a:spcAft>
                <a:spcPts val="600"/>
              </a:spcAft>
              <a:buClr>
                <a:srgbClr val="1D212E"/>
              </a:buClr>
              <a:buSzPct val="110000"/>
              <a:buFontTx/>
              <a:buBlip>
                <a:blip>
                  <a:extLst>
                    <a:ext uri="{96DAC541-7B7A-43D3-8B79-37D633B846F1}">
                      <asvg:svgBlip xmlns:asvg="http://schemas.microsoft.com/office/drawing/2016/SVG/main" r:embed="rId5"/>
                    </a:ext>
                  </a:extLst>
                </a:blip>
              </a:buBlip>
              <a:tabLst>
                <a:tab pos="227013" algn="l"/>
              </a:tabLst>
              <a:defRPr sz="28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905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accent4"/>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74725"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latin typeface="Amazon Ember Light" panose="020B0403020204020204" pitchFamily="34" charset="0"/>
                <a:ea typeface="Amazon Ember Light" panose="020B0403020204020204" pitchFamily="34" charset="0"/>
                <a:cs typeface="Amazon Ember Light" panose="020B0403020204020204" pitchFamily="34" charset="0"/>
              </a:defRPr>
            </a:lvl3pPr>
            <a:lvl4pPr marL="125888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sp>
        <p:nvSpPr>
          <p:cNvPr id="2" name="TextBox 1">
            <a:extLst>
              <a:ext uri="{FF2B5EF4-FFF2-40B4-BE49-F238E27FC236}">
                <a16:creationId xmlns:a16="http://schemas.microsoft.com/office/drawing/2014/main" id="{1CF82C2A-9024-380E-AEBD-C6A7B635458A}"/>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40937703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304800" y="1485900"/>
            <a:ext cx="11582400" cy="2049792"/>
          </a:xfrm>
        </p:spPr>
        <p:txBody>
          <a:bodyPr/>
          <a:lstStyle>
            <a:lvl1pPr>
              <a:defRPr/>
            </a:lvl1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D8BD948C-0269-48E0-BF91-1A5CBF28A84C}"/>
              </a:ext>
            </a:extLst>
          </p:cNvPr>
          <p:cNvSpPr/>
          <p:nvPr/>
        </p:nvSpPr>
        <p:spPr>
          <a:xfrm>
            <a:off x="0" y="0"/>
            <a:ext cx="80304" cy="6858000"/>
          </a:xfrm>
          <a:prstGeom prst="rect">
            <a:avLst/>
          </a:prstGeom>
          <a:gradFill flip="none" rotWithShape="1">
            <a:gsLst>
              <a:gs pos="0">
                <a:schemeClr val="accent1"/>
              </a:gs>
              <a:gs pos="17000">
                <a:srgbClr val="E1381E"/>
              </a:gs>
              <a:gs pos="34000">
                <a:srgbClr val="B20F87"/>
              </a:gs>
              <a:gs pos="70000">
                <a:srgbClr val="5600C2"/>
              </a:gs>
              <a:gs pos="51000">
                <a:srgbClr val="7A14A1"/>
              </a:gs>
              <a:gs pos="86000">
                <a:srgbClr val="3F1EE9"/>
              </a:gs>
              <a:gs pos="100000">
                <a:srgbClr val="0F65F9"/>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355942-CD87-4612-8189-72A5C7E59EAF}"/>
              </a:ext>
            </a:extLst>
          </p:cNvPr>
          <p:cNvSpPr/>
          <p:nvPr userDrawn="1"/>
        </p:nvSpPr>
        <p:spPr>
          <a:xfrm>
            <a:off x="0" y="0"/>
            <a:ext cx="80304" cy="6858000"/>
          </a:xfrm>
          <a:prstGeom prst="rect">
            <a:avLst/>
          </a:prstGeom>
          <a:gradFill flip="none" rotWithShape="1">
            <a:gsLst>
              <a:gs pos="0">
                <a:schemeClr val="accent1"/>
              </a:gs>
              <a:gs pos="17000">
                <a:srgbClr val="E1381E"/>
              </a:gs>
              <a:gs pos="34000">
                <a:srgbClr val="B20F87"/>
              </a:gs>
              <a:gs pos="70000">
                <a:srgbClr val="5600C2"/>
              </a:gs>
              <a:gs pos="51000">
                <a:srgbClr val="7A14A1"/>
              </a:gs>
              <a:gs pos="86000">
                <a:srgbClr val="3F1EE9"/>
              </a:gs>
              <a:gs pos="100000">
                <a:srgbClr val="0F65F9"/>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836463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106777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6714123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3413573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0214150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151410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3642592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Section TItle">
    <p:bg>
      <p:bgPr>
        <a:gradFill flip="none" rotWithShape="1">
          <a:gsLst>
            <a:gs pos="0">
              <a:schemeClr val="accent1">
                <a:lumMod val="10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1BBA-1DAA-B14B-9C96-C59B5BD24429}"/>
              </a:ext>
            </a:extLst>
          </p:cNvPr>
          <p:cNvSpPr>
            <a:spLocks noGrp="1"/>
          </p:cNvSpPr>
          <p:nvPr>
            <p:ph type="ctrTitle" hasCustomPrompt="1"/>
          </p:nvPr>
        </p:nvSpPr>
        <p:spPr>
          <a:xfrm>
            <a:off x="1524000" y="3145743"/>
            <a:ext cx="9144000" cy="748095"/>
          </a:xfrm>
          <a:prstGeom prst="rect">
            <a:avLst/>
          </a:prstGeom>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[Section Title]</a:t>
            </a:r>
          </a:p>
        </p:txBody>
      </p:sp>
      <p:pic>
        <p:nvPicPr>
          <p:cNvPr id="6" name="Picture 5">
            <a:extLst>
              <a:ext uri="{FF2B5EF4-FFF2-40B4-BE49-F238E27FC236}">
                <a16:creationId xmlns:a16="http://schemas.microsoft.com/office/drawing/2014/main" id="{8E00DF90-8A49-4419-992A-DFE8499C441B}"/>
              </a:ext>
            </a:extLst>
          </p:cNvPr>
          <p:cNvPicPr>
            <a:picLocks noChangeAspect="1"/>
          </p:cNvPicPr>
          <p:nvPr userDrawn="1"/>
        </p:nvPicPr>
        <p:blipFill rotWithShape="1">
          <a:blip r:embed="rId2">
            <a:lum contrast="-20000"/>
            <a:alphaModFix amt="34000"/>
          </a:blip>
          <a:srcRect b="60056"/>
          <a:stretch/>
        </p:blipFill>
        <p:spPr>
          <a:xfrm>
            <a:off x="1944660" y="3893839"/>
            <a:ext cx="8302679" cy="2964162"/>
          </a:xfrm>
          <a:prstGeom prst="rect">
            <a:avLst/>
          </a:prstGeom>
        </p:spPr>
      </p:pic>
      <p:sp>
        <p:nvSpPr>
          <p:cNvPr id="7" name="Subtitle 2">
            <a:extLst>
              <a:ext uri="{FF2B5EF4-FFF2-40B4-BE49-F238E27FC236}">
                <a16:creationId xmlns:a16="http://schemas.microsoft.com/office/drawing/2014/main" id="{A966C514-F1A2-41E5-A0EF-ADFDC38E9EC9}"/>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827513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C0B65F1B-514A-4F4F-8988-7036DF600E41}"/>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3494095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_Module Title">
    <p:bg>
      <p:bgPr>
        <a:gradFill flip="none" rotWithShape="1">
          <a:gsLst>
            <a:gs pos="0">
              <a:schemeClr val="tx2">
                <a:lumMod val="90000"/>
                <a:lumOff val="10000"/>
              </a:schemeClr>
            </a:gs>
            <a:gs pos="23000">
              <a:schemeClr val="tx2">
                <a:lumMod val="97000"/>
                <a:lumOff val="3000"/>
              </a:schemeClr>
            </a:gs>
            <a:gs pos="69000">
              <a:schemeClr val="tx2">
                <a:lumMod val="83000"/>
              </a:schemeClr>
            </a:gs>
            <a:gs pos="97000">
              <a:schemeClr val="tx2">
                <a:lumMod val="73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62F7DC0-C9F6-40AE-95A2-3520AC5A171A}"/>
              </a:ext>
            </a:extLst>
          </p:cNvPr>
          <p:cNvSpPr>
            <a:spLocks noGrp="1"/>
          </p:cNvSpPr>
          <p:nvPr>
            <p:ph type="ctrTitle" hasCustomPrompt="1"/>
          </p:nvPr>
        </p:nvSpPr>
        <p:spPr>
          <a:xfrm>
            <a:off x="1524000" y="2468199"/>
            <a:ext cx="9144000" cy="748095"/>
          </a:xfrm>
          <a:prstGeom prst="rect">
            <a:avLst/>
          </a:prstGeom>
          <a:noFill/>
        </p:spPr>
        <p:txBody>
          <a:bodyPr anchor="b">
            <a:noAutofit/>
          </a:bodyPr>
          <a:lstStyle>
            <a:lvl1pPr algn="ctr">
              <a:defRPr sz="5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Module [#]: [Module title]</a:t>
            </a:r>
          </a:p>
        </p:txBody>
      </p:sp>
      <p:pic>
        <p:nvPicPr>
          <p:cNvPr id="2" name="Picture 1">
            <a:extLst>
              <a:ext uri="{FF2B5EF4-FFF2-40B4-BE49-F238E27FC236}">
                <a16:creationId xmlns:a16="http://schemas.microsoft.com/office/drawing/2014/main" id="{EAB45F2C-7BC7-5C35-6362-AE690DD57F57}"/>
              </a:ext>
            </a:extLst>
          </p:cNvPr>
          <p:cNvPicPr>
            <a:picLocks noChangeAspect="1"/>
          </p:cNvPicPr>
          <p:nvPr userDrawn="1"/>
        </p:nvPicPr>
        <p:blipFill rotWithShape="1">
          <a:blip r:embed="rId2">
            <a:lum contrast="-20000"/>
            <a:alphaModFix amt="34000"/>
          </a:blip>
          <a:srcRect b="60056"/>
          <a:stretch/>
        </p:blipFill>
        <p:spPr>
          <a:xfrm>
            <a:off x="1944660" y="3893838"/>
            <a:ext cx="8302679" cy="2964161"/>
          </a:xfrm>
          <a:prstGeom prst="rect">
            <a:avLst/>
          </a:prstGeom>
        </p:spPr>
      </p:pic>
      <p:sp>
        <p:nvSpPr>
          <p:cNvPr id="5" name="Content Placeholder 4">
            <a:extLst>
              <a:ext uri="{FF2B5EF4-FFF2-40B4-BE49-F238E27FC236}">
                <a16:creationId xmlns:a16="http://schemas.microsoft.com/office/drawing/2014/main" id="{91646451-4ABF-4483-BA67-CB7A21603CAF}"/>
              </a:ext>
            </a:extLst>
          </p:cNvPr>
          <p:cNvSpPr>
            <a:spLocks noGrp="1"/>
          </p:cNvSpPr>
          <p:nvPr>
            <p:ph sz="quarter" idx="11" hasCustomPrompt="1"/>
          </p:nvPr>
        </p:nvSpPr>
        <p:spPr>
          <a:xfrm>
            <a:off x="1473993" y="3244837"/>
            <a:ext cx="9244012" cy="612480"/>
          </a:xfrm>
        </p:spPr>
        <p:txBody>
          <a:bodyPr>
            <a:normAutofit/>
          </a:bodyPr>
          <a:lstStyle>
            <a:lvl1pPr marL="0" indent="0" algn="ctr">
              <a:buNone/>
              <a:defRPr sz="3600">
                <a:solidFill>
                  <a:schemeClr val="bg1"/>
                </a:solidFill>
              </a:defRPr>
            </a:lvl1pPr>
          </a:lstStyle>
          <a:p>
            <a:pPr lvl="0"/>
            <a:r>
              <a:rPr lang="en-US"/>
              <a:t>[Module subheading (if applicable)</a:t>
            </a:r>
          </a:p>
        </p:txBody>
      </p:sp>
      <p:sp>
        <p:nvSpPr>
          <p:cNvPr id="8" name="Subtitle 2">
            <a:extLst>
              <a:ext uri="{FF2B5EF4-FFF2-40B4-BE49-F238E27FC236}">
                <a16:creationId xmlns:a16="http://schemas.microsoft.com/office/drawing/2014/main" id="{36B5D76E-969F-4939-B4EF-4CA12D63896C}"/>
              </a:ext>
            </a:extLst>
          </p:cNvPr>
          <p:cNvSpPr>
            <a:spLocks noGrp="1"/>
          </p:cNvSpPr>
          <p:nvPr>
            <p:ph type="subTitle" idx="1" hasCustomPrompt="1"/>
          </p:nvPr>
        </p:nvSpPr>
        <p:spPr>
          <a:xfrm>
            <a:off x="9181578" y="193373"/>
            <a:ext cx="2824278" cy="506684"/>
          </a:xfrm>
          <a:noFill/>
        </p:spPr>
        <p:txBody>
          <a:bodyPr>
            <a:normAutofit/>
          </a:bodyPr>
          <a:lstStyle>
            <a:lvl1pPr marL="0" indent="0" algn="r">
              <a:buNone/>
              <a:defRPr sz="3200" baseline="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[Course Title]</a:t>
            </a:r>
          </a:p>
        </p:txBody>
      </p:sp>
    </p:spTree>
    <p:extLst>
      <p:ext uri="{BB962C8B-B14F-4D97-AF65-F5344CB8AC3E}">
        <p14:creationId xmlns:p14="http://schemas.microsoft.com/office/powerpoint/2010/main" val="807677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Header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E5D57B1-75EF-4C97-9A07-06C42A328D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[Header Only]</a:t>
            </a:r>
          </a:p>
        </p:txBody>
      </p:sp>
      <p:pic>
        <p:nvPicPr>
          <p:cNvPr id="4" name="Picture 3">
            <a:extLst>
              <a:ext uri="{FF2B5EF4-FFF2-40B4-BE49-F238E27FC236}">
                <a16:creationId xmlns:a16="http://schemas.microsoft.com/office/drawing/2014/main" id="{029D4D66-306A-48BD-BDF3-2741FFD17D1D}"/>
              </a:ext>
            </a:extLst>
          </p:cNvPr>
          <p:cNvPicPr>
            <a:picLocks noChangeAspect="1"/>
          </p:cNvPicPr>
          <p:nvPr userDrawn="1"/>
        </p:nvPicPr>
        <p:blipFill>
          <a:blip r:embed="rId2"/>
          <a:stretch>
            <a:fillRect/>
          </a:stretch>
        </p:blipFill>
        <p:spPr>
          <a:xfrm>
            <a:off x="11461580" y="6208593"/>
            <a:ext cx="553221" cy="494462"/>
          </a:xfrm>
          <a:prstGeom prst="rect">
            <a:avLst/>
          </a:prstGeom>
        </p:spPr>
      </p:pic>
      <p:sp>
        <p:nvSpPr>
          <p:cNvPr id="10" name="TextBox 9">
            <a:extLst>
              <a:ext uri="{FF2B5EF4-FFF2-40B4-BE49-F238E27FC236}">
                <a16:creationId xmlns:a16="http://schemas.microsoft.com/office/drawing/2014/main" id="{52AB2642-77B5-4B79-9B47-7A7B6D920503}"/>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2876041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Imag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846B8C-7B13-468C-8778-20B17785226C}"/>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Slide Number Placeholder 5">
            <a:extLst>
              <a:ext uri="{FF2B5EF4-FFF2-40B4-BE49-F238E27FC236}">
                <a16:creationId xmlns:a16="http://schemas.microsoft.com/office/drawing/2014/main" id="{D4CE4CF3-02DA-485F-B590-9FE6F5726AC1}"/>
              </a:ext>
            </a:extLst>
          </p:cNvPr>
          <p:cNvSpPr>
            <a:spLocks noGrp="1"/>
          </p:cNvSpPr>
          <p:nvPr>
            <p:ph type="sldNum" sz="quarter" idx="12"/>
          </p:nvPr>
        </p:nvSpPr>
        <p:spPr>
          <a:xfrm>
            <a:off x="7428974" y="6356866"/>
            <a:ext cx="4032605" cy="365125"/>
          </a:xfrm>
          <a:prstGeom prst="rect">
            <a:avLst/>
          </a:prstGeom>
        </p:spPr>
        <p:txBody>
          <a:bodyPr/>
          <a:lstStyle>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13" name="Title 1">
            <a:extLst>
              <a:ext uri="{FF2B5EF4-FFF2-40B4-BE49-F238E27FC236}">
                <a16:creationId xmlns:a16="http://schemas.microsoft.com/office/drawing/2014/main" id="{595A1A70-0094-4A83-A2EF-A82AE6C1022E}"/>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[Image/Diagram Slide Style]</a:t>
            </a:r>
          </a:p>
        </p:txBody>
      </p:sp>
      <p:sp>
        <p:nvSpPr>
          <p:cNvPr id="19" name="Text Placeholder 2">
            <a:extLst>
              <a:ext uri="{FF2B5EF4-FFF2-40B4-BE49-F238E27FC236}">
                <a16:creationId xmlns:a16="http://schemas.microsoft.com/office/drawing/2014/main" id="{D4B09A44-6DE8-4DF2-9267-9223C3645EC7}"/>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4163"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6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225CE444-046D-C7DC-0963-42C49861463D}"/>
              </a:ext>
            </a:extLst>
          </p:cNvPr>
          <p:cNvPicPr>
            <a:picLocks noChangeAspect="1"/>
          </p:cNvPicPr>
          <p:nvPr userDrawn="1"/>
        </p:nvPicPr>
        <p:blipFill>
          <a:blip r:embed="rId3"/>
          <a:stretch>
            <a:fillRect/>
          </a:stretch>
        </p:blipFill>
        <p:spPr>
          <a:xfrm>
            <a:off x="11461580" y="6208593"/>
            <a:ext cx="553221" cy="494462"/>
          </a:xfrm>
          <a:prstGeom prst="rect">
            <a:avLst/>
          </a:prstGeom>
        </p:spPr>
      </p:pic>
      <p:sp>
        <p:nvSpPr>
          <p:cNvPr id="12" name="TextBox 11">
            <a:extLst>
              <a:ext uri="{FF2B5EF4-FFF2-40B4-BE49-F238E27FC236}">
                <a16:creationId xmlns:a16="http://schemas.microsoft.com/office/drawing/2014/main" id="{EAF8BD9B-3CFB-4592-953A-7F43D6058DE7}"/>
              </a:ext>
            </a:extLst>
          </p:cNvPr>
          <p:cNvSpPr txBox="1"/>
          <p:nvPr userDrawn="1"/>
        </p:nvSpPr>
        <p:spPr>
          <a:xfrm>
            <a:off x="94046" y="6503765"/>
            <a:ext cx="1928718" cy="307777"/>
          </a:xfrm>
          <a:prstGeom prst="rect">
            <a:avLst/>
          </a:prstGeom>
          <a:noFill/>
        </p:spPr>
        <p:txBody>
          <a:bodyPr wrap="square" rtlCol="0">
            <a:spAutoFit/>
          </a:bodyPr>
          <a:lstStyle/>
          <a:p>
            <a:r>
              <a:rPr lang="en-US" sz="1400"/>
              <a:t>Amazon Confidential</a:t>
            </a:r>
          </a:p>
        </p:txBody>
      </p:sp>
    </p:spTree>
    <p:extLst>
      <p:ext uri="{BB962C8B-B14F-4D97-AF65-F5344CB8AC3E}">
        <p14:creationId xmlns:p14="http://schemas.microsoft.com/office/powerpoint/2010/main" val="741008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Fin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94903AE-57F0-C240-B10F-0DC23B38C5B2}"/>
              </a:ext>
            </a:extLst>
          </p:cNvPr>
          <p:cNvSpPr/>
          <p:nvPr userDrawn="1"/>
        </p:nvSpPr>
        <p:spPr>
          <a:xfrm>
            <a:off x="-1" y="-1"/>
            <a:ext cx="12192000" cy="6858000"/>
          </a:xfrm>
          <a:prstGeom prst="rect">
            <a:avLst/>
          </a:prstGeom>
          <a:solidFill>
            <a:srgbClr val="1D21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D212E"/>
              </a:solidFill>
              <a:effectLst/>
              <a:highlight>
                <a:srgbClr val="1D212E"/>
              </a:highlight>
              <a:uLnTx/>
              <a:uFillTx/>
              <a:latin typeface="Amazon Ember Light"/>
              <a:ea typeface="+mn-ea"/>
              <a:cs typeface="+mn-cs"/>
            </a:endParaRPr>
          </a:p>
        </p:txBody>
      </p:sp>
      <p:sp>
        <p:nvSpPr>
          <p:cNvPr id="2" name="TextBox 1">
            <a:extLst>
              <a:ext uri="{FF2B5EF4-FFF2-40B4-BE49-F238E27FC236}">
                <a16:creationId xmlns:a16="http://schemas.microsoft.com/office/drawing/2014/main" id="{CEEE5780-BFB7-4409-9FDC-8B11B0E11B2A}"/>
              </a:ext>
            </a:extLst>
          </p:cNvPr>
          <p:cNvSpPr txBox="1"/>
          <p:nvPr userDrawn="1"/>
        </p:nvSpPr>
        <p:spPr bwMode="white">
          <a:xfrm>
            <a:off x="2177143" y="4908008"/>
            <a:ext cx="7837715" cy="11079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a:ln>
                  <a:noFill/>
                </a:ln>
                <a:solidFill>
                  <a:srgbClr val="F4F4F4"/>
                </a:solidFill>
                <a:effectLst/>
                <a:uLnTx/>
                <a:uFillTx/>
                <a:latin typeface="Amazon Ember Light"/>
                <a:ea typeface="+mn-ea"/>
                <a:cs typeface="+mn-cs"/>
              </a:rPr>
              <a:t>Thank you!</a:t>
            </a:r>
          </a:p>
        </p:txBody>
      </p:sp>
      <p:pic>
        <p:nvPicPr>
          <p:cNvPr id="54" name="Picture 53">
            <a:extLst>
              <a:ext uri="{FF2B5EF4-FFF2-40B4-BE49-F238E27FC236}">
                <a16:creationId xmlns:a16="http://schemas.microsoft.com/office/drawing/2014/main" id="{E3A2FFBD-EF37-39FC-76A0-CCD27D3D9FFF}"/>
              </a:ext>
            </a:extLst>
          </p:cNvPr>
          <p:cNvPicPr>
            <a:picLocks noChangeAspect="1"/>
          </p:cNvPicPr>
          <p:nvPr userDrawn="1"/>
        </p:nvPicPr>
        <p:blipFill>
          <a:blip r:embed="rId2"/>
          <a:stretch>
            <a:fillRect/>
          </a:stretch>
        </p:blipFill>
        <p:spPr>
          <a:xfrm>
            <a:off x="3946979" y="1066472"/>
            <a:ext cx="4298041" cy="3841536"/>
          </a:xfrm>
          <a:prstGeom prst="rect">
            <a:avLst/>
          </a:prstGeom>
        </p:spPr>
      </p:pic>
    </p:spTree>
    <p:extLst>
      <p:ext uri="{BB962C8B-B14F-4D97-AF65-F5344CB8AC3E}">
        <p14:creationId xmlns:p14="http://schemas.microsoft.com/office/powerpoint/2010/main" val="34577636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572043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a:t>- Attribution</a:t>
            </a:r>
          </a:p>
        </p:txBody>
      </p:sp>
    </p:spTree>
    <p:extLst>
      <p:ext uri="{BB962C8B-B14F-4D97-AF65-F5344CB8AC3E}">
        <p14:creationId xmlns:p14="http://schemas.microsoft.com/office/powerpoint/2010/main" val="5816989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395790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a:t>Module # - Lesson #</a:t>
            </a:r>
          </a:p>
        </p:txBody>
      </p:sp>
    </p:spTree>
    <p:extLst>
      <p:ext uri="{BB962C8B-B14F-4D97-AF65-F5344CB8AC3E}">
        <p14:creationId xmlns:p14="http://schemas.microsoft.com/office/powerpoint/2010/main" val="412903975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a:t>- Attribution</a:t>
            </a:r>
          </a:p>
        </p:txBody>
      </p:sp>
    </p:spTree>
    <p:extLst>
      <p:ext uri="{BB962C8B-B14F-4D97-AF65-F5344CB8AC3E}">
        <p14:creationId xmlns:p14="http://schemas.microsoft.com/office/powerpoint/2010/main" val="7344384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5862696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85195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from </a:t>
            </a:r>
            <a:r>
              <a:rPr lang="en-US" err="1"/>
              <a:t>autogluon.tabular</a:t>
            </a:r>
            <a:r>
              <a:rPr lang="en-US"/>
              <a:t> import </a:t>
            </a:r>
            <a:r>
              <a:rPr lang="en-US" err="1"/>
              <a:t>TabularPredictor</a:t>
            </a: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predictor = </a:t>
            </a:r>
            <a:r>
              <a:rPr lang="en-US" err="1"/>
              <a:t>TabularPredictor</a:t>
            </a:r>
            <a:r>
              <a:rPr lang="en-US"/>
              <a:t>(label="Price").fit("</a:t>
            </a:r>
            <a:r>
              <a:rPr lang="en-US" err="1"/>
              <a:t>train.csv</a:t>
            </a:r>
            <a:r>
              <a:rPr lang="en-US"/>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a:t>predictions = </a:t>
            </a:r>
            <a:r>
              <a:rPr lang="en-US" err="1"/>
              <a:t>predictor.predict</a:t>
            </a:r>
            <a:r>
              <a:rPr lang="en-US"/>
              <a:t>("</a:t>
            </a:r>
            <a:r>
              <a:rPr lang="en-US" err="1"/>
              <a:t>test.csv</a:t>
            </a:r>
            <a:r>
              <a:rPr lang="en-US"/>
              <a:t>")</a:t>
            </a:r>
          </a:p>
        </p:txBody>
      </p:sp>
    </p:spTree>
    <p:custDataLst>
      <p:tags r:id="rId1"/>
    </p:custDataLst>
    <p:extLst>
      <p:ext uri="{BB962C8B-B14F-4D97-AF65-F5344CB8AC3E}">
        <p14:creationId xmlns:p14="http://schemas.microsoft.com/office/powerpoint/2010/main" val="8291049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a:t>Click icon to add image</a:t>
            </a:r>
          </a:p>
        </p:txBody>
      </p:sp>
    </p:spTree>
    <p:custDataLst>
      <p:tags r:id="rId1"/>
    </p:custDataLst>
    <p:extLst>
      <p:ext uri="{BB962C8B-B14F-4D97-AF65-F5344CB8AC3E}">
        <p14:creationId xmlns:p14="http://schemas.microsoft.com/office/powerpoint/2010/main" val="14299536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2686762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only</a:t>
            </a:r>
          </a:p>
        </p:txBody>
      </p:sp>
    </p:spTree>
    <p:custDataLst>
      <p:tags r:id="rId1"/>
    </p:custDataLst>
    <p:extLst>
      <p:ext uri="{BB962C8B-B14F-4D97-AF65-F5344CB8AC3E}">
        <p14:creationId xmlns:p14="http://schemas.microsoft.com/office/powerpoint/2010/main" val="5960298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a:t>Title optional</a:t>
            </a:r>
          </a:p>
        </p:txBody>
      </p:sp>
    </p:spTree>
    <p:custDataLst>
      <p:tags r:id="rId1"/>
    </p:custDataLst>
    <p:extLst>
      <p:ext uri="{BB962C8B-B14F-4D97-AF65-F5344CB8AC3E}">
        <p14:creationId xmlns:p14="http://schemas.microsoft.com/office/powerpoint/2010/main" val="35532978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26722765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a:extLst>
                    <a:ext uri="{96DAC541-7B7A-43D3-8B79-37D633B846F1}">
                      <asvg:svgBlip xmlns:asvg="http://schemas.microsoft.com/office/drawing/2016/SVG/main" r:embed="rId2"/>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a:t>Use bullets sparingly, keep text brief</a:t>
            </a:r>
          </a:p>
          <a:p>
            <a:pPr lvl="1"/>
            <a:r>
              <a:rPr lang="en-US"/>
              <a:t>Second level</a:t>
            </a:r>
          </a:p>
          <a:p>
            <a:pPr lvl="2"/>
            <a:r>
              <a:rPr lang="en-US"/>
              <a:t>Third level</a:t>
            </a:r>
          </a:p>
          <a:p>
            <a:pPr lvl="3"/>
            <a:r>
              <a:rPr lang="en-US"/>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3"/>
          <a:stretch>
            <a:fillRect/>
          </a:stretch>
        </p:blipFill>
        <p:spPr>
          <a:xfrm>
            <a:off x="11461580" y="6208593"/>
            <a:ext cx="553221" cy="494462"/>
          </a:xfrm>
          <a:prstGeom prst="rect">
            <a:avLst/>
          </a:prstGeom>
        </p:spPr>
      </p:pic>
    </p:spTree>
    <p:extLst>
      <p:ext uri="{BB962C8B-B14F-4D97-AF65-F5344CB8AC3E}">
        <p14:creationId xmlns:p14="http://schemas.microsoft.com/office/powerpoint/2010/main" val="27636007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44C3B7-20FD-B147-A3A4-C8BFFFAE09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232F3E"/>
                </a:solidFill>
                <a:effectLst/>
                <a:uLnTx/>
                <a:uFillTx/>
                <a:latin typeface="Amazon Ember Display Medium" panose="020F0603020204020204" pitchFamily="34" charset="0"/>
                <a:ea typeface="+mn-ea"/>
                <a:cs typeface="+mn-cs"/>
              </a:rPr>
              <a:t>Fourth level</a:t>
            </a:r>
          </a:p>
        </p:txBody>
      </p:sp>
      <p:sp>
        <p:nvSpPr>
          <p:cNvPr id="7" name="Title Placeholder 6">
            <a:extLst>
              <a:ext uri="{FF2B5EF4-FFF2-40B4-BE49-F238E27FC236}">
                <a16:creationId xmlns:a16="http://schemas.microsoft.com/office/drawing/2014/main" id="{E33A41B4-6076-8D44-B789-6151B9301D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207210076"/>
      </p:ext>
    </p:extLst>
  </p:cSld>
  <p:clrMap bg1="lt1" tx1="dk1" bg2="lt2" tx2="dk2" accent1="accent1" accent2="accent2" accent3="accent3" accent4="accent4" accent5="accent5" accent6="accent6" hlink="hlink" folHlink="folHlink"/>
  <p:sldLayoutIdLst>
    <p:sldLayoutId id="2147483681" r:id="rId1"/>
    <p:sldLayoutId id="2147483695" r:id="rId2"/>
    <p:sldLayoutId id="2147483684" r:id="rId3"/>
    <p:sldLayoutId id="2147483685" r:id="rId4"/>
    <p:sldLayoutId id="2147483686" r:id="rId5"/>
    <p:sldLayoutId id="2147483687" r:id="rId6"/>
    <p:sldLayoutId id="2147483689" r:id="rId7"/>
    <p:sldLayoutId id="2147483690" r:id="rId8"/>
    <p:sldLayoutId id="2147483691" r:id="rId9"/>
    <p:sldLayoutId id="2147483692" r:id="rId10"/>
    <p:sldLayoutId id="2147483693" r:id="rId11"/>
    <p:sldLayoutId id="2147483694" r:id="rId12"/>
    <p:sldLayoutId id="2147483696" r:id="rId13"/>
    <p:sldLayoutId id="2147483698" r:id="rId14"/>
    <p:sldLayoutId id="2147483699" r:id="rId15"/>
    <p:sldLayoutId id="2147483700" r:id="rId16"/>
    <p:sldLayoutId id="2147483713" r:id="rId17"/>
    <p:sldLayoutId id="2147483714" r:id="rId18"/>
    <p:sldLayoutId id="2147483715" r:id="rId19"/>
    <p:sldLayoutId id="2147483716" r:id="rId20"/>
    <p:sldLayoutId id="2147483717" r:id="rId21"/>
    <p:sldLayoutId id="2147483718" r:id="rId22"/>
    <p:sldLayoutId id="2147483731" r:id="rId23"/>
    <p:sldLayoutId id="2147483732" r:id="rId24"/>
    <p:sldLayoutId id="2147483733" r:id="rId25"/>
    <p:sldLayoutId id="2147483734" r:id="rId26"/>
    <p:sldLayoutId id="2147483735" r:id="rId27"/>
    <p:sldLayoutId id="2147483736" r:id="rId28"/>
    <p:sldLayoutId id="2147483748" r:id="rId29"/>
    <p:sldLayoutId id="2147483749" r:id="rId30"/>
    <p:sldLayoutId id="2147483751" r:id="rId31"/>
  </p:sldLayoutIdLst>
  <p:hf hdr="0" ftr="0" dt="0"/>
  <p:txStyles>
    <p:titleStyle>
      <a:lvl1pPr algn="l" defTabSz="914400" rtl="0" eaLnBrk="1" latinLnBrk="0" hangingPunct="1">
        <a:lnSpc>
          <a:spcPct val="90000"/>
        </a:lnSpc>
        <a:spcBef>
          <a:spcPct val="0"/>
        </a:spcBef>
        <a:buNone/>
        <a:defRPr sz="4000" kern="1200" baseline="0">
          <a:solidFill>
            <a:srgbClr val="1D212E"/>
          </a:solidFill>
          <a:latin typeface="Amazon Ember Heavy" panose="020B0603020204020204" pitchFamily="34" charset="0"/>
          <a:ea typeface="+mj-ea"/>
          <a:cs typeface="+mj-cs"/>
        </a:defRPr>
      </a:lvl1pPr>
    </p:titleStyle>
    <p:bodyStyle>
      <a:lvl1pPr marL="228600" marR="0" indent="-228600" algn="l" defTabSz="914400" rtl="0" eaLnBrk="1" fontAlgn="auto" latinLnBrk="0" hangingPunct="1">
        <a:lnSpc>
          <a:spcPct val="90000"/>
        </a:lnSpc>
        <a:spcBef>
          <a:spcPts val="1000"/>
        </a:spcBef>
        <a:spcAft>
          <a:spcPts val="0"/>
        </a:spcAft>
        <a:buClrTx/>
        <a:buSzTx/>
        <a:buFontTx/>
        <a:buBlip>
          <a:blip>
            <a:extLst>
              <a:ext uri="{96DAC541-7B7A-43D3-8B79-37D633B846F1}">
                <asvg:svgBlip xmlns:asvg="http://schemas.microsoft.com/office/drawing/2016/SVG/main" r:embed="rId33"/>
              </a:ext>
            </a:extLst>
          </a:blip>
        </a:buBlip>
        <a:tabLst/>
        <a:defRPr sz="2000" kern="1200" baseline="0">
          <a:solidFill>
            <a:schemeClr val="tx1"/>
          </a:solidFill>
          <a:latin typeface="Amazon Ember Display Medium" panose="020F0603020204020204" pitchFamily="34" charset="0"/>
          <a:ea typeface="+mn-ea"/>
          <a:cs typeface="+mn-cs"/>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baseline="0">
          <a:solidFill>
            <a:schemeClr val="tx1"/>
          </a:solidFill>
          <a:latin typeface="Amazon Ember Display Medium" panose="020F0603020204020204" pitchFamily="34" charset="0"/>
          <a:ea typeface="+mn-ea"/>
          <a:cs typeface="+mn-cs"/>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600" kern="1200" baseline="0">
          <a:solidFill>
            <a:schemeClr val="tx1"/>
          </a:solidFill>
          <a:latin typeface="Amazon Ember Display Medium" panose="020F0603020204020204" pitchFamily="34" charset="0"/>
          <a:ea typeface="+mn-ea"/>
          <a:cs typeface="+mn-cs"/>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400" kern="1200" baseline="0">
          <a:solidFill>
            <a:schemeClr val="tx1"/>
          </a:solidFill>
          <a:latin typeface="Amazon Ember Display Medium" panose="020F06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660A97-C945-7E23-15C2-475AD6F8BF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4A53C4-A78A-CD2E-89B3-CD2FFE7B2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B52CC5-1A38-DE62-8363-52CE1BD77C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5E3AD-F988-CD40-AC9B-6098AB7FF76E}" type="datetimeFigureOut">
              <a:rPr lang="en-US" smtClean="0"/>
              <a:t>7/13/26</a:t>
            </a:fld>
            <a:endParaRPr lang="en-US"/>
          </a:p>
        </p:txBody>
      </p:sp>
      <p:sp>
        <p:nvSpPr>
          <p:cNvPr id="5" name="Footer Placeholder 4">
            <a:extLst>
              <a:ext uri="{FF2B5EF4-FFF2-40B4-BE49-F238E27FC236}">
                <a16:creationId xmlns:a16="http://schemas.microsoft.com/office/drawing/2014/main" id="{661E41F2-50A9-113B-056C-6BE6BD58E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3C3FA1-C7A1-CD77-E55D-96133B5A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6634FC-EF59-D94B-B34D-937E85354626}" type="slidenum">
              <a:rPr lang="en-US" smtClean="0"/>
              <a:t>‹#›</a:t>
            </a:fld>
            <a:endParaRPr lang="en-US"/>
          </a:p>
        </p:txBody>
      </p:sp>
    </p:spTree>
    <p:extLst>
      <p:ext uri="{BB962C8B-B14F-4D97-AF65-F5344CB8AC3E}">
        <p14:creationId xmlns:p14="http://schemas.microsoft.com/office/powerpoint/2010/main" val="67036849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5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Assignment Lifecycle:</a:t>
            </a:r>
          </a:p>
          <a:p>
            <a:r>
              <a:t>AI from Rubric to Feedback</a:t>
            </a:r>
          </a:p>
        </p:txBody>
      </p:sp>
      <p:sp>
        <p:nvSpPr>
          <p:cNvPr id="3" name="Text Placeholder 2"/>
          <p:cNvSpPr>
            <a:spLocks noGrp="1"/>
          </p:cNvSpPr>
          <p:nvPr>
            <p:ph type="body" idx="2"/>
          </p:nvPr>
        </p:nvSpPr>
        <p:spPr/>
        <p:txBody>
          <a:bodyPr wrap="square"/>
          <a:lstStyle/>
          <a:p>
            <a:r>
              <a:t>Four no-code tools, one assignment</a:t>
            </a:r>
          </a:p>
        </p:txBody>
      </p:sp>
      <p:sp>
        <p:nvSpPr>
          <p:cNvPr id="4" name="Text Placeholder 3"/>
          <p:cNvSpPr>
            <a:spLocks noGrp="1"/>
          </p:cNvSpPr>
          <p:nvPr>
            <p:ph type="body" idx="98"/>
          </p:nvPr>
        </p:nvSpPr>
        <p:spPr>
          <a:xfrm>
            <a:off x="402336" y="4745736"/>
            <a:ext cx="8412480" cy="1088136"/>
          </a:xfrm>
        </p:spPr>
        <p:txBody>
          <a:bodyPr wrap="square"/>
          <a:lstStyle/>
          <a:p>
            <a:r>
              <a:rPr i="1"/>
              <a:t>Session 2 · Amazon Quick + Kiro</a:t>
            </a:r>
          </a:p>
          <a:p>
            <a:r>
              <a:t>Tariq Hook · Delaware State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Get signed in — and start grading</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Open</a:t>
            </a:r>
            <a:r>
              <a:rPr sz="1800">
                <a:solidFill>
                  <a:srgbClr val="232F3E"/>
                </a:solidFill>
              </a:rPr>
              <a:t> your Amazon Quick invitation email and follow the sign-in link</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Sign in</a:t>
            </a:r>
            <a:r>
              <a:rPr sz="1800">
                <a:solidFill>
                  <a:srgbClr val="232F3E"/>
                </a:solidFill>
              </a:rPr>
              <a:t>, and set a password if it asks</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Find Apps</a:t>
            </a:r>
            <a:r>
              <a:rPr sz="1800">
                <a:solidFill>
                  <a:srgbClr val="232F3E"/>
                </a:solidFill>
              </a:rPr>
              <a:t> in the left menu. Today's tools live there.</a:t>
            </a:r>
          </a:p>
        </p:txBody>
      </p:sp>
      <p:sp>
        <p:nvSpPr>
          <p:cNvPr id="13" name="Chevron 12"/>
          <p:cNvSpPr/>
          <p:nvPr/>
        </p:nvSpPr>
        <p:spPr>
          <a:xfrm rot="5400000">
            <a:off x="374903" y="4270248"/>
            <a:ext cx="1005840"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170432" y="4151376"/>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Stuck?</a:t>
            </a:r>
            <a:r>
              <a:rPr sz="1800">
                <a:solidFill>
                  <a:srgbClr val="232F3E"/>
                </a:solidFill>
              </a:rPr>
              <a:t> Raise your hand. A volunteer will come to you.</a:t>
            </a:r>
          </a:p>
        </p:txBody>
      </p:sp>
      <p:sp>
        <p:nvSpPr>
          <p:cNvPr id="15" name="Rounded Rectangle 14"/>
          <p:cNvSpPr/>
          <p:nvPr/>
        </p:nvSpPr>
        <p:spPr>
          <a:xfrm>
            <a:off x="7726679" y="1463040"/>
            <a:ext cx="40690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While you wait</a:t>
            </a:r>
          </a:p>
          <a:p>
            <a:pPr algn="l" marL="342900" indent="-342900">
              <a:spcAft>
                <a:spcPts val="800"/>
              </a:spcAft>
              <a:buFont typeface="Arial"/>
              <a:buChar char="•"/>
            </a:pPr>
            <a:r>
              <a:rPr sz="1800">
                <a:solidFill>
                  <a:srgbClr val="232F3E"/>
                </a:solidFill>
              </a:rPr>
              <a:t>Grade the paper on your table.</a:t>
            </a:r>
          </a:p>
          <a:p>
            <a:pPr algn="l" marL="342900" indent="-342900">
              <a:spcAft>
                <a:spcPts val="800"/>
              </a:spcAft>
              <a:buFont typeface="Arial"/>
              <a:buChar char="•"/>
            </a:pPr>
            <a:r>
              <a:rPr sz="1800">
                <a:solidFill>
                  <a:srgbClr val="232F3E"/>
                </a:solidFill>
              </a:rPr>
              <a:t>Use </a:t>
            </a:r>
            <a:r>
              <a:rPr b="1" sz="1800">
                <a:solidFill>
                  <a:srgbClr val="156082"/>
                </a:solidFill>
              </a:rPr>
              <a:t>only</a:t>
            </a:r>
            <a:r>
              <a:rPr sz="1800">
                <a:solidFill>
                  <a:srgbClr val="232F3E"/>
                </a:solidFill>
              </a:rPr>
              <a:t> the rubric on the handout.</a:t>
            </a:r>
          </a:p>
          <a:p>
            <a:pPr algn="l" marL="342900" indent="-342900">
              <a:spcAft>
                <a:spcPts val="800"/>
              </a:spcAft>
              <a:buFont typeface="Arial"/>
              <a:buChar char="•"/>
            </a:pPr>
            <a:r>
              <a:rPr sz="1800">
                <a:solidFill>
                  <a:srgbClr val="232F3E"/>
                </a:solidFill>
              </a:rPr>
              <a:t>Three minutes. Write down a score and a letter.</a:t>
            </a:r>
          </a:p>
          <a:p>
            <a:pPr algn="l" marL="342900" indent="-342900">
              <a:spcAft>
                <a:spcPts val="800"/>
              </a:spcAft>
              <a:buFont typeface="Arial"/>
              <a:buChar char="•"/>
            </a:pPr>
            <a:r>
              <a:rPr sz="1800">
                <a:solidFill>
                  <a:srgbClr val="232F3E"/>
                </a:solidFill>
              </a:rPr>
              <a:t>You don't need to know computer science.</a:t>
            </a:r>
          </a:p>
        </p:txBody>
      </p:sp>
      <p:sp>
        <p:nvSpPr>
          <p:cNvPr id="16" name="Rounded Rectangle 15"/>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0:00 – 0:12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Today’s session</a:t>
            </a:r>
          </a:p>
        </p:txBody>
      </p:sp>
      <p:sp>
        <p:nvSpPr>
          <p:cNvPr id="4" name="Text Placeholder 3"/>
          <p:cNvSpPr>
            <a:spLocks noGrp="1"/>
          </p:cNvSpPr>
          <p:nvPr>
            <p:ph type="body" idx="3"/>
          </p:nvPr>
        </p:nvSpPr>
        <p:spPr/>
        <p:txBody>
          <a:bodyPr wrap="square"/>
          <a:lstStyle/>
          <a:p>
            <a:r>
              <a:t>Sign in, and grade a paper</a:t>
            </a:r>
          </a:p>
          <a:p>
            <a:r>
              <a:t>The Rubric Builder — </a:t>
            </a:r>
            <a:r>
              <a:rPr b="1">
                <a:solidFill>
                  <a:srgbClr val="156082"/>
                </a:solidFill>
              </a:rPr>
              <a:t>hands-on</a:t>
            </a:r>
          </a:p>
          <a:p>
            <a:r>
              <a:t>The AI-Proofing Assistant — </a:t>
            </a:r>
            <a:r>
              <a:rPr b="1">
                <a:solidFill>
                  <a:srgbClr val="156082"/>
                </a:solidFill>
              </a:rPr>
              <a:t>hands-on</a:t>
            </a:r>
          </a:p>
          <a:p>
            <a:r>
              <a:t>The Grading Assistant, built in Kiro</a:t>
            </a:r>
          </a:p>
          <a:p>
            <a:r>
              <a:t>Pre-Assessment Triage — </a:t>
            </a:r>
            <a:r>
              <a:rPr b="1">
                <a:solidFill>
                  <a:srgbClr val="156082"/>
                </a:solidFill>
              </a:rPr>
              <a:t>hands-on</a:t>
            </a:r>
          </a:p>
          <a:p>
            <a:r>
              <a:t>Wrap-up: what you leave with</a:t>
            </a:r>
          </a:p>
        </p:txBody>
      </p:sp>
      <p:grpSp>
        <p:nvGrpSpPr>
          <p:cNvPr id="5"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6"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a:p>
          </p:txBody>
        </p:sp>
        <p:sp>
          <p:nvSpPr>
            <p:cNvPr id="7"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a:p>
          </p:txBody>
        </p:sp>
      </p:grpSp>
      <p:sp>
        <p:nvSpPr>
          <p:cNvPr id="26"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grade did you give Marcus?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548640" y="1280160"/>
            <a:ext cx="11064240" cy="457200"/>
          </a:xfrm>
          <a:prstGeom prst="rect">
            <a:avLst/>
          </a:prstGeom>
          <a:noFill/>
        </p:spPr>
        <p:txBody>
          <a:bodyPr wrap="square" anchor="t" lIns="45720" rIns="45720">
            <a:spAutoFit/>
          </a:bodyPr>
          <a:lstStyle/>
          <a:p>
            <a:pPr algn="ctr">
              <a:buNone/>
            </a:pPr>
            <a:r>
              <a:rPr sz="2000">
                <a:solidFill>
                  <a:srgbClr val="5F6B7A"/>
                </a:solidFill>
              </a:rPr>
              <a:t>The paper on your table, graded with only the rubric on the handout.</a:t>
            </a:r>
          </a:p>
        </p:txBody>
      </p:sp>
      <p:sp>
        <p:nvSpPr>
          <p:cNvPr id="8" name="Rounded Rectangle 7"/>
          <p:cNvSpPr/>
          <p:nvPr/>
        </p:nvSpPr>
        <p:spPr>
          <a:xfrm>
            <a:off x="521207" y="196596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A</a:t>
            </a:r>
          </a:p>
        </p:txBody>
      </p:sp>
      <p:sp>
        <p:nvSpPr>
          <p:cNvPr id="9" name="Rounded Rectangle 8"/>
          <p:cNvSpPr/>
          <p:nvPr/>
        </p:nvSpPr>
        <p:spPr>
          <a:xfrm>
            <a:off x="2807208" y="196596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B</a:t>
            </a:r>
          </a:p>
        </p:txBody>
      </p:sp>
      <p:sp>
        <p:nvSpPr>
          <p:cNvPr id="10" name="Rounded Rectangle 9"/>
          <p:cNvSpPr/>
          <p:nvPr/>
        </p:nvSpPr>
        <p:spPr>
          <a:xfrm>
            <a:off x="5093208" y="196596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C</a:t>
            </a:r>
          </a:p>
        </p:txBody>
      </p:sp>
      <p:sp>
        <p:nvSpPr>
          <p:cNvPr id="11" name="Rounded Rectangle 10"/>
          <p:cNvSpPr/>
          <p:nvPr/>
        </p:nvSpPr>
        <p:spPr>
          <a:xfrm>
            <a:off x="7379208" y="196596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D</a:t>
            </a:r>
          </a:p>
        </p:txBody>
      </p:sp>
      <p:sp>
        <p:nvSpPr>
          <p:cNvPr id="12" name="Rounded Rectangle 11"/>
          <p:cNvSpPr/>
          <p:nvPr/>
        </p:nvSpPr>
        <p:spPr>
          <a:xfrm>
            <a:off x="9665208" y="1965960"/>
            <a:ext cx="2011680" cy="2286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800"/>
              </a:spcAft>
              <a:buNone/>
            </a:pPr>
            <a:r>
              <a:rPr b="1" sz="8800">
                <a:solidFill>
                  <a:srgbClr val="232F3E"/>
                </a:solidFill>
              </a:rPr>
              <a:t>F</a:t>
            </a:r>
          </a:p>
        </p:txBody>
      </p:sp>
      <p:sp>
        <p:nvSpPr>
          <p:cNvPr id="13" name="TextBox 12"/>
          <p:cNvSpPr txBox="1"/>
          <p:nvPr/>
        </p:nvSpPr>
        <p:spPr>
          <a:xfrm>
            <a:off x="914400" y="4617720"/>
            <a:ext cx="10332720" cy="731520"/>
          </a:xfrm>
          <a:prstGeom prst="rect">
            <a:avLst/>
          </a:prstGeom>
          <a:noFill/>
        </p:spPr>
        <p:txBody>
          <a:bodyPr wrap="square" anchor="t" lIns="45720" rIns="45720">
            <a:spAutoFit/>
          </a:bodyPr>
          <a:lstStyle/>
          <a:p>
            <a:pPr algn="ctr">
              <a:buNone/>
            </a:pPr>
            <a:r>
              <a:rPr i="1" sz="2200">
                <a:solidFill>
                  <a:srgbClr val="5F6B7A"/>
                </a:solidFill>
              </a:rPr>
              <a:t>Hands up for your letter. Then hold that number — we'll come back to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One assignment, four tools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Rubric Builder</a:t>
            </a:r>
          </a:p>
          <a:p>
            <a:pPr algn="ctr">
              <a:spcAft>
                <a:spcPts val="800"/>
              </a:spcAft>
              <a:buNone/>
            </a:pPr>
            <a:r>
              <a:rPr b="1" sz="1800">
                <a:solidFill>
                  <a:srgbClr val="156082"/>
                </a:solidFill>
              </a:rPr>
              <a:t>Build the rubric</a:t>
            </a:r>
          </a:p>
          <a:p>
            <a:pPr algn="ctr">
              <a:spcAft>
                <a:spcPts val="800"/>
              </a:spcAft>
              <a:buNone/>
            </a:pPr>
            <a:r>
              <a:rPr sz="1600">
                <a:solidFill>
                  <a:srgbClr val="5F6B7A"/>
                </a:solidFill>
              </a:rPr>
              <a:t>Amazon Quick</a:t>
            </a:r>
          </a:p>
        </p:txBody>
      </p:sp>
      <p:sp>
        <p:nvSpPr>
          <p:cNvPr id="8" name="Right Arrow 7"/>
          <p:cNvSpPr/>
          <p:nvPr/>
        </p:nvSpPr>
        <p:spPr>
          <a:xfrm>
            <a:off x="3054096" y="2834640"/>
            <a:ext cx="274320" cy="420624"/>
          </a:xfrm>
          <a:prstGeom prst="rightArrow">
            <a:avLst/>
          </a:prstGeom>
          <a:solidFill>
            <a:srgbClr val="156082"/>
          </a:solidFill>
          <a:ln>
            <a:noFill/>
          </a:ln>
        </p:spPr>
        <p:txBody>
          <a:bodyPr rtlCol="0" anchor="ctr"/>
          <a:lstStyle/>
          <a:p>
            <a:pPr algn="ctr"/>
          </a:p>
        </p:txBody>
      </p:sp>
      <p:sp>
        <p:nvSpPr>
          <p:cNvPr id="9" name="Rounded Rectangle 8"/>
          <p:cNvSpPr/>
          <p:nvPr/>
        </p:nvSpPr>
        <p:spPr>
          <a:xfrm>
            <a:off x="3364992"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AI‑Proofing Assistant</a:t>
            </a:r>
          </a:p>
          <a:p>
            <a:pPr algn="ctr">
              <a:spcAft>
                <a:spcPts val="800"/>
              </a:spcAft>
              <a:buNone/>
            </a:pPr>
            <a:r>
              <a:rPr b="1" sz="1800">
                <a:solidFill>
                  <a:srgbClr val="156082"/>
                </a:solidFill>
              </a:rPr>
              <a:t>Harden the assignment</a:t>
            </a:r>
          </a:p>
          <a:p>
            <a:pPr algn="ctr">
              <a:spcAft>
                <a:spcPts val="800"/>
              </a:spcAft>
              <a:buNone/>
            </a:pPr>
            <a:r>
              <a:rPr sz="1600">
                <a:solidFill>
                  <a:srgbClr val="5F6B7A"/>
                </a:solidFill>
              </a:rPr>
              <a:t>Amazon Quick</a:t>
            </a:r>
          </a:p>
        </p:txBody>
      </p:sp>
      <p:sp>
        <p:nvSpPr>
          <p:cNvPr id="10" name="Right Arrow 9"/>
          <p:cNvSpPr/>
          <p:nvPr/>
        </p:nvSpPr>
        <p:spPr>
          <a:xfrm>
            <a:off x="5961888" y="2834640"/>
            <a:ext cx="274320" cy="420624"/>
          </a:xfrm>
          <a:prstGeom prst="rightArrow">
            <a:avLst/>
          </a:prstGeom>
          <a:solidFill>
            <a:srgbClr val="156082"/>
          </a:solidFill>
          <a:ln>
            <a:noFill/>
          </a:ln>
        </p:spPr>
        <p:txBody>
          <a:bodyPr rtlCol="0" anchor="ctr"/>
          <a:lstStyle/>
          <a:p>
            <a:pPr algn="ctr"/>
          </a:p>
        </p:txBody>
      </p:sp>
      <p:sp>
        <p:nvSpPr>
          <p:cNvPr id="11" name="Rounded Rectangle 10"/>
          <p:cNvSpPr/>
          <p:nvPr/>
        </p:nvSpPr>
        <p:spPr>
          <a:xfrm>
            <a:off x="6272784"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Grading Assistant</a:t>
            </a:r>
          </a:p>
          <a:p>
            <a:pPr algn="ctr">
              <a:spcAft>
                <a:spcPts val="800"/>
              </a:spcAft>
              <a:buNone/>
            </a:pPr>
            <a:r>
              <a:rPr b="1" sz="1800">
                <a:solidFill>
                  <a:srgbClr val="156082"/>
                </a:solidFill>
              </a:rPr>
              <a:t>Grade against the rubric</a:t>
            </a:r>
          </a:p>
          <a:p>
            <a:pPr algn="ctr">
              <a:spcAft>
                <a:spcPts val="800"/>
              </a:spcAft>
              <a:buNone/>
            </a:pPr>
            <a:r>
              <a:rPr sz="1600">
                <a:solidFill>
                  <a:srgbClr val="5F6B7A"/>
                </a:solidFill>
              </a:rPr>
              <a:t>Kiro</a:t>
            </a:r>
          </a:p>
        </p:txBody>
      </p:sp>
      <p:sp>
        <p:nvSpPr>
          <p:cNvPr id="12" name="Right Arrow 11"/>
          <p:cNvSpPr/>
          <p:nvPr/>
        </p:nvSpPr>
        <p:spPr>
          <a:xfrm>
            <a:off x="8869680" y="2834640"/>
            <a:ext cx="274320" cy="420624"/>
          </a:xfrm>
          <a:prstGeom prst="rightArrow">
            <a:avLst/>
          </a:prstGeom>
          <a:solidFill>
            <a:srgbClr val="156082"/>
          </a:solidFill>
          <a:ln>
            <a:noFill/>
          </a:ln>
        </p:spPr>
        <p:txBody>
          <a:bodyPr rtlCol="0" anchor="ctr"/>
          <a:lstStyle/>
          <a:p>
            <a:pPr algn="ctr"/>
          </a:p>
        </p:txBody>
      </p:sp>
      <p:sp>
        <p:nvSpPr>
          <p:cNvPr id="13" name="Rounded Rectangle 12"/>
          <p:cNvSpPr/>
          <p:nvPr/>
        </p:nvSpPr>
        <p:spPr>
          <a:xfrm>
            <a:off x="9180576" y="1554480"/>
            <a:ext cx="2560320" cy="29718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64592" rIns="164592" tIns="115214" bIns="115214"/>
          <a:lstStyle/>
          <a:p>
            <a:pPr algn="ctr">
              <a:spcAft>
                <a:spcPts val="1000"/>
              </a:spcAft>
              <a:buNone/>
            </a:pPr>
            <a:r>
              <a:rPr i="1" sz="1900">
                <a:solidFill>
                  <a:srgbClr val="232F3E"/>
                </a:solidFill>
              </a:rPr>
              <a:t>Pre‑Assessment Triage</a:t>
            </a:r>
          </a:p>
          <a:p>
            <a:pPr algn="ctr">
              <a:spcAft>
                <a:spcPts val="800"/>
              </a:spcAft>
              <a:buNone/>
            </a:pPr>
            <a:r>
              <a:rPr b="1" sz="1800">
                <a:solidFill>
                  <a:srgbClr val="156082"/>
                </a:solidFill>
              </a:rPr>
              <a:t>Students self‑check first</a:t>
            </a:r>
          </a:p>
          <a:p>
            <a:pPr algn="ctr">
              <a:spcAft>
                <a:spcPts val="800"/>
              </a:spcAft>
              <a:buNone/>
            </a:pPr>
            <a:r>
              <a:rPr sz="1600">
                <a:solidFill>
                  <a:srgbClr val="5F6B7A"/>
                </a:solidFill>
              </a:rPr>
              <a:t>Amazon Quick</a:t>
            </a:r>
          </a:p>
        </p:txBody>
      </p:sp>
      <p:sp>
        <p:nvSpPr>
          <p:cNvPr id="14" name="Rounded Rectangle 13"/>
          <p:cNvSpPr/>
          <p:nvPr/>
        </p:nvSpPr>
        <p:spPr>
          <a:xfrm>
            <a:off x="1508760" y="4937760"/>
            <a:ext cx="9144000" cy="82296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rubric the first tool builds is the rubric the other three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assignment we'll follow</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502920" y="1371600"/>
            <a:ext cx="6858000" cy="4754880"/>
          </a:xfrm>
          <a:prstGeom prst="rect">
            <a:avLst/>
          </a:prstGeom>
          <a:noFill/>
        </p:spPr>
        <p:txBody>
          <a:bodyPr wrap="square" anchor="t" lIns="45720" rIns="45720">
            <a:spAutoFit/>
          </a:bodyPr>
          <a:lstStyle/>
          <a:p>
            <a:pPr>
              <a:spcAft>
                <a:spcPts val="1000"/>
              </a:spcAft>
              <a:buNone/>
            </a:pPr>
            <a:r>
              <a:rPr i="1" b="1" sz="2200">
                <a:solidFill>
                  <a:srgbClr val="232F3E"/>
                </a:solidFill>
              </a:rPr>
              <a:t>Choose the Right Structure</a:t>
            </a:r>
            <a:r>
              <a:rPr b="1" sz="2200">
                <a:solidFill>
                  <a:srgbClr val="232F3E"/>
                </a:solidFill>
              </a:rPr>
              <a:t> — Intro to Data Structures</a:t>
            </a:r>
          </a:p>
          <a:p>
            <a:pPr>
              <a:spcAft>
                <a:spcPts val="1200"/>
              </a:spcAft>
              <a:buNone/>
            </a:pPr>
            <a:r>
              <a:rPr sz="1900">
                <a:solidFill>
                  <a:srgbClr val="232F3E"/>
                </a:solidFill>
              </a:rPr>
              <a:t>Pick an operation a real program does over and over. Argue which data structure fits it best.</a:t>
            </a:r>
          </a:p>
          <a:p>
            <a:pPr marL="342900" indent="-342900">
              <a:spcAft>
                <a:spcPts val="600"/>
              </a:spcAft>
              <a:buFont typeface="Arial"/>
              <a:buChar char="•"/>
            </a:pPr>
            <a:r>
              <a:rPr sz="1900">
                <a:solidFill>
                  <a:srgbClr val="232F3E"/>
                </a:solidFill>
              </a:rPr>
              <a:t>State a thesis: the operation and the structure</a:t>
            </a:r>
          </a:p>
          <a:p>
            <a:pPr marL="342900" indent="-342900">
              <a:spcAft>
                <a:spcPts val="600"/>
              </a:spcAft>
              <a:buFont typeface="Arial"/>
              <a:buChar char="•"/>
            </a:pPr>
            <a:r>
              <a:rPr sz="1900">
                <a:solidFill>
                  <a:srgbClr val="232F3E"/>
                </a:solidFill>
              </a:rPr>
              <a:t>Give </a:t>
            </a:r>
            <a:r>
              <a:rPr b="1" sz="1900">
                <a:solidFill>
                  <a:srgbClr val="156082"/>
                </a:solidFill>
              </a:rPr>
              <a:t>running times</a:t>
            </a:r>
            <a:r>
              <a:rPr sz="1900">
                <a:solidFill>
                  <a:srgbClr val="232F3E"/>
                </a:solidFill>
              </a:rPr>
              <a:t>, and say which kind of guarantee each is</a:t>
            </a:r>
          </a:p>
          <a:p>
            <a:pPr marL="342900" indent="-342900">
              <a:spcAft>
                <a:spcPts val="600"/>
              </a:spcAft>
              <a:buFont typeface="Arial"/>
              <a:buChar char="•"/>
            </a:pPr>
            <a:r>
              <a:rPr sz="1900">
                <a:solidFill>
                  <a:srgbClr val="232F3E"/>
                </a:solidFill>
              </a:rPr>
              <a:t>Ground it in </a:t>
            </a:r>
            <a:r>
              <a:rPr b="1" sz="1900">
                <a:solidFill>
                  <a:srgbClr val="156082"/>
                </a:solidFill>
              </a:rPr>
              <a:t>one concrete scenario</a:t>
            </a:r>
          </a:p>
          <a:p>
            <a:pPr marL="342900" indent="-342900">
              <a:spcAft>
                <a:spcPts val="600"/>
              </a:spcAft>
              <a:buFont typeface="Arial"/>
              <a:buChar char="•"/>
            </a:pPr>
            <a:r>
              <a:rPr sz="1900">
                <a:solidFill>
                  <a:srgbClr val="232F3E"/>
                </a:solidFill>
              </a:rPr>
              <a:t>Name where your choice is </a:t>
            </a:r>
            <a:r>
              <a:rPr b="1" sz="1900">
                <a:solidFill>
                  <a:srgbClr val="156082"/>
                </a:solidFill>
              </a:rPr>
              <a:t>the worse one</a:t>
            </a:r>
          </a:p>
          <a:p>
            <a:pPr marL="342900" indent="-342900">
              <a:spcAft>
                <a:spcPts val="600"/>
              </a:spcAft>
              <a:buFont typeface="Arial"/>
              <a:buChar char="•"/>
            </a:pPr>
            <a:r>
              <a:rPr sz="1900">
                <a:solidFill>
                  <a:srgbClr val="232F3E"/>
                </a:solidFill>
              </a:rPr>
              <a:t>Cite the </a:t>
            </a:r>
            <a:r>
              <a:rPr b="1" sz="1900">
                <a:solidFill>
                  <a:srgbClr val="156082"/>
                </a:solidFill>
              </a:rPr>
              <a:t>course reading</a:t>
            </a:r>
          </a:p>
        </p:txBody>
      </p:sp>
      <p:sp>
        <p:nvSpPr>
          <p:cNvPr id="8" name="Rounded Rectangle 7"/>
          <p:cNvSpPr/>
          <p:nvPr/>
        </p:nvSpPr>
        <p:spPr>
          <a:xfrm>
            <a:off x="7726679" y="1463040"/>
            <a:ext cx="4069080" cy="3749039"/>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Learning objectives</a:t>
            </a:r>
          </a:p>
          <a:p>
            <a:pPr algn="l">
              <a:spcAft>
                <a:spcPts val="800"/>
              </a:spcAft>
              <a:buNone/>
            </a:pPr>
            <a:r>
              <a:rPr b="1" sz="1800">
                <a:solidFill>
                  <a:srgbClr val="156082"/>
                </a:solidFill>
              </a:rPr>
              <a:t>LO1</a:t>
            </a:r>
            <a:r>
              <a:rPr sz="1800">
                <a:solidFill>
                  <a:srgbClr val="232F3E"/>
                </a:solidFill>
              </a:rPr>
              <a:t> Choose a structure and justify it</a:t>
            </a:r>
          </a:p>
          <a:p>
            <a:pPr algn="l">
              <a:spcAft>
                <a:spcPts val="800"/>
              </a:spcAft>
              <a:buNone/>
            </a:pPr>
            <a:r>
              <a:rPr b="1" sz="1800">
                <a:solidFill>
                  <a:srgbClr val="156082"/>
                </a:solidFill>
              </a:rPr>
              <a:t>LO2</a:t>
            </a:r>
            <a:r>
              <a:rPr sz="1800">
                <a:solidFill>
                  <a:srgbClr val="232F3E"/>
                </a:solidFill>
              </a:rPr>
              <a:t> State running-time guarantees correctly</a:t>
            </a:r>
          </a:p>
          <a:p>
            <a:pPr algn="l">
              <a:spcAft>
                <a:spcPts val="800"/>
              </a:spcAft>
              <a:buNone/>
            </a:pPr>
            <a:r>
              <a:rPr b="1" sz="1800">
                <a:solidFill>
                  <a:srgbClr val="156082"/>
                </a:solidFill>
              </a:rPr>
              <a:t>LO3</a:t>
            </a:r>
            <a:r>
              <a:rPr sz="1800">
                <a:solidFill>
                  <a:srgbClr val="232F3E"/>
                </a:solidFill>
              </a:rPr>
              <a:t> Support claims with evidence</a:t>
            </a:r>
          </a:p>
          <a:p>
            <a:pPr algn="l">
              <a:spcAft>
                <a:spcPts val="800"/>
              </a:spcAft>
              <a:buNone/>
            </a:pPr>
            <a:r>
              <a:rPr b="1" sz="1800">
                <a:solidFill>
                  <a:srgbClr val="156082"/>
                </a:solidFill>
              </a:rPr>
              <a:t>LO4</a:t>
            </a:r>
            <a:r>
              <a:rPr sz="1800">
                <a:solidFill>
                  <a:srgbClr val="232F3E"/>
                </a:solidFill>
              </a:rPr>
              <a:t> Communicate clearly</a:t>
            </a:r>
          </a:p>
        </p:txBody>
      </p:sp>
      <p:sp>
        <p:nvSpPr>
          <p:cNvPr id="9" name="TextBox 8"/>
          <p:cNvSpPr txBox="1"/>
          <p:nvPr/>
        </p:nvSpPr>
        <p:spPr>
          <a:xfrm>
            <a:off x="7726679" y="5349240"/>
            <a:ext cx="4069080" cy="731520"/>
          </a:xfrm>
          <a:prstGeom prst="rect">
            <a:avLst/>
          </a:prstGeom>
          <a:noFill/>
        </p:spPr>
        <p:txBody>
          <a:bodyPr wrap="square" anchor="t" lIns="45720" rIns="45720">
            <a:spAutoFit/>
          </a:bodyPr>
          <a:lstStyle/>
          <a:p>
            <a:pPr>
              <a:buNone/>
            </a:pPr>
            <a:r>
              <a:rPr i="1" sz="1500">
                <a:solidFill>
                  <a:srgbClr val="5F6B7A"/>
                </a:solidFill>
              </a:rPr>
              <a:t>Not a CS person? You don't need to be. Watch what the tools do with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Meet the five students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Aisha Rahman</a:t>
            </a:r>
          </a:p>
          <a:p>
            <a:pPr algn="ctr">
              <a:spcAft>
                <a:spcPts val="800"/>
              </a:spcAft>
              <a:buNone/>
            </a:pPr>
            <a:r>
              <a:rPr sz="1700">
                <a:solidFill>
                  <a:srgbClr val="232F3E"/>
                </a:solidFill>
              </a:rPr>
              <a:t>Strong. Correct analysis, a real scenario, honest trade-offs.</a:t>
            </a:r>
          </a:p>
        </p:txBody>
      </p:sp>
      <p:sp>
        <p:nvSpPr>
          <p:cNvPr id="8" name="Rounded Rectangle 7"/>
          <p:cNvSpPr/>
          <p:nvPr/>
        </p:nvSpPr>
        <p:spPr>
          <a:xfrm>
            <a:off x="2743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Marcus Lee</a:t>
            </a:r>
          </a:p>
          <a:p>
            <a:pPr algn="ctr">
              <a:spcAft>
                <a:spcPts val="800"/>
              </a:spcAft>
              <a:buNone/>
            </a:pPr>
            <a:r>
              <a:rPr b="1" sz="1700">
                <a:solidFill>
                  <a:srgbClr val="156082"/>
                </a:solidFill>
              </a:rPr>
              <a:t>The paper you graded.</a:t>
            </a:r>
            <a:r>
              <a:rPr sz="1700">
                <a:solidFill>
                  <a:srgbClr val="232F3E"/>
                </a:solidFill>
              </a:rPr>
              <a:t> Fluent and confident.</a:t>
            </a:r>
          </a:p>
        </p:txBody>
      </p:sp>
      <p:sp>
        <p:nvSpPr>
          <p:cNvPr id="9" name="Rounded Rectangle 8"/>
          <p:cNvSpPr/>
          <p:nvPr/>
        </p:nvSpPr>
        <p:spPr>
          <a:xfrm>
            <a:off x="5029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Priya Chandra</a:t>
            </a:r>
          </a:p>
          <a:p>
            <a:pPr algn="ctr">
              <a:spcAft>
                <a:spcPts val="800"/>
              </a:spcAft>
              <a:buNone/>
            </a:pPr>
            <a:r>
              <a:rPr sz="1700">
                <a:solidFill>
                  <a:srgbClr val="232F3E"/>
                </a:solidFill>
              </a:rPr>
              <a:t>A reflection on the class, </a:t>
            </a:r>
            <a:r>
              <a:rPr b="1" sz="1700">
                <a:solidFill>
                  <a:srgbClr val="156082"/>
                </a:solidFill>
              </a:rPr>
              <a:t>not an analysis</a:t>
            </a:r>
            <a:r>
              <a:rPr sz="1700">
                <a:solidFill>
                  <a:srgbClr val="232F3E"/>
                </a:solidFill>
              </a:rPr>
              <a:t>.</a:t>
            </a:r>
          </a:p>
        </p:txBody>
      </p:sp>
      <p:sp>
        <p:nvSpPr>
          <p:cNvPr id="10" name="Rounded Rectangle 9"/>
          <p:cNvSpPr/>
          <p:nvPr/>
        </p:nvSpPr>
        <p:spPr>
          <a:xfrm>
            <a:off x="7315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Leila Haddad</a:t>
            </a:r>
          </a:p>
          <a:p>
            <a:pPr algn="ctr">
              <a:spcAft>
                <a:spcPts val="800"/>
              </a:spcAft>
              <a:buNone/>
            </a:pPr>
            <a:r>
              <a:rPr sz="1700">
                <a:solidFill>
                  <a:srgbClr val="232F3E"/>
                </a:solidFill>
              </a:rPr>
              <a:t>An </a:t>
            </a:r>
            <a:r>
              <a:rPr b="1" sz="1700">
                <a:solidFill>
                  <a:srgbClr val="156082"/>
                </a:solidFill>
              </a:rPr>
              <a:t>unfinished draft</a:t>
            </a:r>
            <a:r>
              <a:rPr sz="1700">
                <a:solidFill>
                  <a:srgbClr val="232F3E"/>
                </a:solidFill>
              </a:rPr>
              <a:t> with two [TODO]s left in.</a:t>
            </a:r>
          </a:p>
        </p:txBody>
      </p:sp>
      <p:sp>
        <p:nvSpPr>
          <p:cNvPr id="11" name="Rounded Rectangle 10"/>
          <p:cNvSpPr/>
          <p:nvPr/>
        </p:nvSpPr>
        <p:spPr>
          <a:xfrm>
            <a:off x="9601200" y="1737360"/>
            <a:ext cx="2103120" cy="2468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182880" rIns="182880" tIns="128015" bIns="128015"/>
          <a:lstStyle/>
          <a:p>
            <a:pPr algn="ctr">
              <a:spcAft>
                <a:spcPts val="1000"/>
              </a:spcAft>
              <a:buNone/>
            </a:pPr>
            <a:r>
              <a:rPr i="1" sz="1900">
                <a:solidFill>
                  <a:srgbClr val="232F3E"/>
                </a:solidFill>
              </a:rPr>
              <a:t>Diego Alvarez</a:t>
            </a:r>
          </a:p>
          <a:p>
            <a:pPr algn="ctr">
              <a:spcAft>
                <a:spcPts val="800"/>
              </a:spcAft>
              <a:buNone/>
            </a:pPr>
            <a:r>
              <a:rPr b="1" sz="1700">
                <a:solidFill>
                  <a:srgbClr val="156082"/>
                </a:solidFill>
              </a:rPr>
              <a:t>Submitted nothing.</a:t>
            </a:r>
          </a:p>
        </p:txBody>
      </p:sp>
      <p:sp>
        <p:nvSpPr>
          <p:cNvPr id="12" name="TextBox 11"/>
          <p:cNvSpPr txBox="1"/>
          <p:nvPr/>
        </p:nvSpPr>
        <p:spPr>
          <a:xfrm>
            <a:off x="914400" y="4663440"/>
            <a:ext cx="10332720" cy="640080"/>
          </a:xfrm>
          <a:prstGeom prst="rect">
            <a:avLst/>
          </a:prstGeom>
          <a:noFill/>
        </p:spPr>
        <p:txBody>
          <a:bodyPr wrap="square" anchor="t" lIns="45720" rIns="45720">
            <a:spAutoFit/>
          </a:bodyPr>
          <a:lstStyle/>
          <a:p>
            <a:pPr algn="ctr">
              <a:buNone/>
            </a:pPr>
            <a:r>
              <a:rPr i="1" sz="1800">
                <a:solidFill>
                  <a:srgbClr val="5F6B7A"/>
                </a:solidFill>
              </a:rPr>
              <a:t>All five are synthetic. No real student work is used anywhere in this session.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Rubric Builder</a:t>
            </a:r>
          </a:p>
        </p:txBody>
      </p:sp>
      <p:sp>
        <p:nvSpPr>
          <p:cNvPr id="3" name="Text Placeholder 2"/>
          <p:cNvSpPr>
            <a:spLocks noGrp="1"/>
          </p:cNvSpPr>
          <p:nvPr>
            <p:ph type="body" idx="2"/>
          </p:nvPr>
        </p:nvSpPr>
        <p:spPr/>
        <p:txBody>
          <a:bodyPr wrap="square"/>
          <a:lstStyle/>
          <a:p>
            <a:r>
              <a:rPr i="1"/>
              <a:t>From assignment prompt to grading‑ready rubric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A tool is only as good as its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548640" y="1463040"/>
            <a:ext cx="4937760" cy="342900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The rubric you graded with</a:t>
            </a:r>
          </a:p>
          <a:p>
            <a:pPr algn="l">
              <a:spcAft>
                <a:spcPts val="800"/>
              </a:spcAft>
              <a:buNone/>
            </a:pPr>
            <a:r>
              <a:rPr sz="2000">
                <a:solidFill>
                  <a:srgbClr val="232F3E"/>
                </a:solidFill>
              </a:rPr>
              <a:t>Content — </a:t>
            </a:r>
            <a:r>
              <a:rPr b="1" sz="2000">
                <a:solidFill>
                  <a:srgbClr val="156082"/>
                </a:solidFill>
              </a:rPr>
              <a:t>40</a:t>
            </a:r>
          </a:p>
          <a:p>
            <a:pPr algn="l">
              <a:spcAft>
                <a:spcPts val="800"/>
              </a:spcAft>
              <a:buNone/>
            </a:pPr>
            <a:r>
              <a:rPr sz="2000">
                <a:solidFill>
                  <a:srgbClr val="232F3E"/>
                </a:solidFill>
              </a:rPr>
              <a:t>Organization — </a:t>
            </a:r>
            <a:r>
              <a:rPr b="1" sz="2000">
                <a:solidFill>
                  <a:srgbClr val="156082"/>
                </a:solidFill>
              </a:rPr>
              <a:t>30</a:t>
            </a:r>
          </a:p>
          <a:p>
            <a:pPr algn="l">
              <a:spcAft>
                <a:spcPts val="800"/>
              </a:spcAft>
              <a:buNone/>
            </a:pPr>
            <a:r>
              <a:rPr sz="2000">
                <a:solidFill>
                  <a:srgbClr val="232F3E"/>
                </a:solidFill>
              </a:rPr>
              <a:t>Writing mechanics — </a:t>
            </a:r>
            <a:r>
              <a:rPr b="1" sz="2000">
                <a:solidFill>
                  <a:srgbClr val="156082"/>
                </a:solidFill>
              </a:rPr>
              <a:t>20</a:t>
            </a:r>
          </a:p>
          <a:p>
            <a:pPr algn="l">
              <a:spcAft>
                <a:spcPts val="800"/>
              </a:spcAft>
              <a:buNone/>
            </a:pPr>
            <a:r>
              <a:rPr sz="2000">
                <a:solidFill>
                  <a:srgbClr val="232F3E"/>
                </a:solidFill>
              </a:rPr>
              <a:t>Length &amp; formatting — </a:t>
            </a:r>
            <a:r>
              <a:rPr b="1" sz="2000">
                <a:solidFill>
                  <a:srgbClr val="156082"/>
                </a:solidFill>
              </a:rPr>
              <a:t>10</a:t>
            </a:r>
          </a:p>
          <a:p>
            <a:pPr algn="l">
              <a:spcBef>
                <a:spcPts val="800"/>
              </a:spcBef>
              <a:spcAft>
                <a:spcPts val="800"/>
              </a:spcAft>
              <a:buNone/>
            </a:pPr>
            <a:r>
              <a:rPr sz="1600">
                <a:solidFill>
                  <a:srgbClr val="5F6B7A"/>
                </a:solidFill>
              </a:rPr>
              <a:t>Excellent content: </a:t>
            </a:r>
            <a:r>
              <a:rPr i="1" b="0" sz="1600">
                <a:solidFill>
                  <a:srgbClr val="5F6B7A"/>
                </a:solidFill>
              </a:rPr>
              <a:t>“Thorough, insightful discussion of the topic.”</a:t>
            </a:r>
          </a:p>
        </p:txBody>
      </p:sp>
      <p:sp>
        <p:nvSpPr>
          <p:cNvPr id="8" name="TextBox 7"/>
          <p:cNvSpPr txBox="1"/>
          <p:nvPr/>
        </p:nvSpPr>
        <p:spPr>
          <a:xfrm>
            <a:off x="6035040" y="1463040"/>
            <a:ext cx="5760720" cy="4389120"/>
          </a:xfrm>
          <a:prstGeom prst="rect">
            <a:avLst/>
          </a:prstGeom>
          <a:noFill/>
        </p:spPr>
        <p:txBody>
          <a:bodyPr wrap="square" anchor="t" lIns="45720" rIns="45720">
            <a:spAutoFit/>
          </a:bodyPr>
          <a:lstStyle/>
          <a:p>
            <a:pPr>
              <a:spcAft>
                <a:spcPts val="1400"/>
              </a:spcAft>
              <a:buNone/>
            </a:pPr>
            <a:r>
              <a:rPr b="1" sz="2400">
                <a:solidFill>
                  <a:srgbClr val="232F3E"/>
                </a:solidFill>
              </a:rPr>
              <a:t>What's wrong with it</a:t>
            </a:r>
          </a:p>
          <a:p>
            <a:pPr marL="342900" indent="-342900">
              <a:spcAft>
                <a:spcPts val="1200"/>
              </a:spcAft>
              <a:buFont typeface="Arial"/>
              <a:buChar char="•"/>
            </a:pPr>
            <a:r>
              <a:rPr sz="2100">
                <a:solidFill>
                  <a:srgbClr val="232F3E"/>
                </a:solidFill>
              </a:rPr>
              <a:t>60 of 100 points go to what you can see </a:t>
            </a:r>
            <a:r>
              <a:rPr b="1" sz="2100">
                <a:solidFill>
                  <a:srgbClr val="156082"/>
                </a:solidFill>
              </a:rPr>
              <a:t>without expertise</a:t>
            </a:r>
          </a:p>
          <a:p>
            <a:pPr marL="342900" indent="-342900">
              <a:spcAft>
                <a:spcPts val="1200"/>
              </a:spcAft>
              <a:buFont typeface="Arial"/>
              <a:buChar char="•"/>
            </a:pPr>
            <a:r>
              <a:rPr i="1" b="0" sz="2100">
                <a:solidFill>
                  <a:srgbClr val="232F3E"/>
                </a:solidFill>
              </a:rPr>
              <a:t>Understanding</a:t>
            </a:r>
            <a:r>
              <a:rPr sz="2100">
                <a:solidFill>
                  <a:srgbClr val="232F3E"/>
                </a:solidFill>
              </a:rPr>
              <a:t> is never defined</a:t>
            </a:r>
          </a:p>
          <a:p>
            <a:pPr marL="342900" indent="-342900">
              <a:spcAft>
                <a:spcPts val="1200"/>
              </a:spcAft>
              <a:buFont typeface="Arial"/>
              <a:buChar char="•"/>
            </a:pPr>
            <a:r>
              <a:rPr sz="2100">
                <a:solidFill>
                  <a:srgbClr val="232F3E"/>
                </a:solidFill>
              </a:rPr>
              <a:t>Nothing checks whether a claim is </a:t>
            </a:r>
            <a:r>
              <a:rPr b="1" sz="2100">
                <a:solidFill>
                  <a:srgbClr val="156082"/>
                </a:solidFill>
              </a:rPr>
              <a:t>true</a:t>
            </a:r>
          </a:p>
          <a:p>
            <a:pPr marL="342900" indent="-342900">
              <a:spcAft>
                <a:spcPts val="1200"/>
              </a:spcAft>
              <a:buFont typeface="Arial"/>
              <a:buChar char="•"/>
            </a:pPr>
            <a:r>
              <a:rPr sz="2100">
                <a:solidFill>
                  <a:srgbClr val="232F3E"/>
                </a:solidFill>
              </a:rPr>
              <a:t>It isn't tied to the </a:t>
            </a:r>
            <a:r>
              <a:rPr b="1" sz="2100">
                <a:solidFill>
                  <a:srgbClr val="156082"/>
                </a:solidFill>
              </a:rPr>
              <a:t>learning objectives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the Rubric Builder does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576071" y="1609344"/>
            <a:ext cx="1152144"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444752" y="1417320"/>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Paste in</a:t>
            </a:r>
            <a:r>
              <a:rPr sz="2000">
                <a:solidFill>
                  <a:srgbClr val="232F3E"/>
                </a:solidFill>
              </a:rPr>
              <a:t> the assignment prompt, the learning objectives, and the course reading</a:t>
            </a:r>
          </a:p>
        </p:txBody>
      </p:sp>
      <p:sp>
        <p:nvSpPr>
          <p:cNvPr id="9" name="Chevron 8"/>
          <p:cNvSpPr/>
          <p:nvPr/>
        </p:nvSpPr>
        <p:spPr>
          <a:xfrm rot="5400000">
            <a:off x="576071" y="2651760"/>
            <a:ext cx="1152144"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444752" y="2459736"/>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It drafts</a:t>
            </a:r>
            <a:r>
              <a:rPr sz="2000">
                <a:solidFill>
                  <a:srgbClr val="232F3E"/>
                </a:solidFill>
              </a:rPr>
              <a:t> weighted criteria, each tied to an objective, with 0–4 level descriptors</a:t>
            </a:r>
          </a:p>
        </p:txBody>
      </p:sp>
      <p:sp>
        <p:nvSpPr>
          <p:cNvPr id="11" name="Chevron 10"/>
          <p:cNvSpPr/>
          <p:nvPr/>
        </p:nvSpPr>
        <p:spPr>
          <a:xfrm rot="5400000">
            <a:off x="576071" y="3694176"/>
            <a:ext cx="1152144"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444752" y="3502152"/>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It adds</a:t>
            </a:r>
            <a:r>
              <a:rPr sz="2000">
                <a:solidFill>
                  <a:srgbClr val="232F3E"/>
                </a:solidFill>
              </a:rPr>
              <a:t> a </a:t>
            </a:r>
            <a:r>
              <a:rPr i="1" b="0" sz="2000">
                <a:solidFill>
                  <a:srgbClr val="232F3E"/>
                </a:solidFill>
              </a:rPr>
              <a:t>present when</a:t>
            </a:r>
            <a:r>
              <a:rPr sz="2000">
                <a:solidFill>
                  <a:srgbClr val="232F3E"/>
                </a:solidFill>
              </a:rPr>
              <a:t> line to every criterion — what Triage checks for later</a:t>
            </a:r>
          </a:p>
        </p:txBody>
      </p:sp>
      <p:sp>
        <p:nvSpPr>
          <p:cNvPr id="13" name="Chevron 12"/>
          <p:cNvSpPr/>
          <p:nvPr/>
        </p:nvSpPr>
        <p:spPr>
          <a:xfrm rot="5400000">
            <a:off x="576071" y="4736592"/>
            <a:ext cx="1152144"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444752" y="4544568"/>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You review</a:t>
            </a:r>
            <a:r>
              <a:rPr sz="2000">
                <a:solidFill>
                  <a:srgbClr val="232F3E"/>
                </a:solidFill>
              </a:rPr>
              <a:t> and edit. It exports in the one format the other three tools 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Stress test: one paper, two rubrics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685800" y="1463040"/>
            <a:ext cx="5120640" cy="35661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Original rubric</a:t>
            </a:r>
          </a:p>
          <a:p>
            <a:pPr algn="ctr">
              <a:spcAft>
                <a:spcPts val="800"/>
              </a:spcAft>
              <a:buNone/>
            </a:pPr>
            <a:r>
              <a:rPr b="1" sz="8800">
                <a:solidFill>
                  <a:srgbClr val="232F3E"/>
                </a:solidFill>
              </a:rPr>
              <a:t>B+</a:t>
            </a:r>
          </a:p>
          <a:p>
            <a:pPr algn="ctr">
              <a:spcAft>
                <a:spcPts val="800"/>
              </a:spcAft>
              <a:buNone/>
            </a:pPr>
            <a:r>
              <a:rPr sz="2000">
                <a:solidFill>
                  <a:srgbClr val="232F3E"/>
                </a:solidFill>
              </a:rPr>
              <a:t>≈ 88 / 100</a:t>
            </a:r>
          </a:p>
          <a:p>
            <a:pPr algn="ctr">
              <a:spcAft>
                <a:spcPts val="800"/>
              </a:spcAft>
              <a:buNone/>
            </a:pPr>
            <a:r>
              <a:rPr sz="1800">
                <a:solidFill>
                  <a:srgbClr val="5F6B7A"/>
                </a:solidFill>
              </a:rPr>
              <a:t>Rewards organization and clean prose</a:t>
            </a:r>
          </a:p>
        </p:txBody>
      </p:sp>
      <p:sp>
        <p:nvSpPr>
          <p:cNvPr id="8" name="Rounded Rectangle 7"/>
          <p:cNvSpPr/>
          <p:nvPr/>
        </p:nvSpPr>
        <p:spPr>
          <a:xfrm>
            <a:off x="6382512" y="1463040"/>
            <a:ext cx="5120640" cy="356616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Generated rubric</a:t>
            </a:r>
          </a:p>
          <a:p>
            <a:pPr algn="ctr">
              <a:spcAft>
                <a:spcPts val="800"/>
              </a:spcAft>
              <a:buNone/>
            </a:pPr>
            <a:r>
              <a:rPr b="1" sz="8800">
                <a:solidFill>
                  <a:srgbClr val="C00000"/>
                </a:solidFill>
              </a:rPr>
              <a:t>F</a:t>
            </a:r>
          </a:p>
          <a:p>
            <a:pPr algn="ctr">
              <a:spcAft>
                <a:spcPts val="800"/>
              </a:spcAft>
              <a:buNone/>
            </a:pPr>
            <a:r>
              <a:rPr sz="2000">
                <a:solidFill>
                  <a:srgbClr val="232F3E"/>
                </a:solidFill>
              </a:rPr>
              <a:t>≈ 38%</a:t>
            </a:r>
          </a:p>
          <a:p>
            <a:pPr algn="ctr">
              <a:spcAft>
                <a:spcPts val="800"/>
              </a:spcAft>
              <a:buNone/>
            </a:pPr>
            <a:r>
              <a:rPr sz="1800">
                <a:solidFill>
                  <a:srgbClr val="5F6B7A"/>
                </a:solidFill>
              </a:rPr>
              <a:t>Running-time claims contradict the reading</a:t>
            </a:r>
          </a:p>
        </p:txBody>
      </p:sp>
      <p:sp>
        <p:nvSpPr>
          <p:cNvPr id="9" name="TextBox 8"/>
          <p:cNvSpPr txBox="1"/>
          <p:nvPr/>
        </p:nvSpPr>
        <p:spPr>
          <a:xfrm>
            <a:off x="914400" y="5257800"/>
            <a:ext cx="10332720" cy="548640"/>
          </a:xfrm>
          <a:prstGeom prst="rect">
            <a:avLst/>
          </a:prstGeom>
          <a:noFill/>
        </p:spPr>
        <p:txBody>
          <a:bodyPr wrap="square" anchor="t" lIns="45720" rIns="45720">
            <a:spAutoFit/>
          </a:bodyPr>
          <a:lstStyle/>
          <a:p>
            <a:pPr algn="ctr">
              <a:buNone/>
            </a:pPr>
            <a:r>
              <a:rPr i="1" sz="1600">
                <a:solidFill>
                  <a:srgbClr val="5F6B7A"/>
                </a:solidFill>
              </a:rPr>
              <a:t>Marcus Lee's paper. Hand-scored preview — the live run happens on screen.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the new rubric caught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graphicFrame>
        <p:nvGraphicFramePr>
          <p:cNvPr id="7" name="Table 6"/>
          <p:cNvGraphicFramePr>
            <a:graphicFrameLocks noGrp="1"/>
          </p:cNvGraphicFramePr>
          <p:nvPr/>
        </p:nvGraphicFramePr>
        <p:xfrm>
          <a:off x="548640" y="1417320"/>
          <a:ext cx="11064240" cy="3474720"/>
        </p:xfrm>
        <a:graphic>
          <a:graphicData uri="http://schemas.openxmlformats.org/drawingml/2006/table">
            <a:tbl>
              <a:tblPr firstRow="1" bandRow="1">
                <a:tableStyleId>{5C22544A-7EE6-4342-B048-85BDC9FD1C3A}</a:tableStyleId>
              </a:tblPr>
              <a:tblGrid>
                <a:gridCol w="5120640"/>
                <a:gridCol w="5943600"/>
              </a:tblGrid>
              <a:tr h="868680">
                <a:tc>
                  <a:txBody>
                    <a:bodyPr wrap="square"/>
                    <a:lstStyle/>
                    <a:p>
                      <a:pPr>
                        <a:buNone/>
                      </a:pPr>
                      <a:r>
                        <a:rPr b="1" sz="1700">
                          <a:solidFill>
                            <a:srgbClr val="FFFFFF"/>
                          </a:solidFill>
                        </a:rPr>
                        <a:t>Marcus wrote</a:t>
                      </a:r>
                    </a:p>
                  </a:txBody>
                  <a:tcPr marL="128016" marR="128016" anchor="ctr">
                    <a:solidFill>
                      <a:srgbClr val="156082"/>
                    </a:solidFill>
                  </a:tcPr>
                </a:tc>
                <a:tc>
                  <a:txBody>
                    <a:bodyPr wrap="square"/>
                    <a:lstStyle/>
                    <a:p>
                      <a:pPr>
                        <a:buNone/>
                      </a:pPr>
                      <a:r>
                        <a:rPr b="1" sz="1700">
                          <a:solidFill>
                            <a:srgbClr val="FFFFFF"/>
                          </a:solidFill>
                        </a:rPr>
                        <a:t>The course reading says</a:t>
                      </a:r>
                    </a:p>
                  </a:txBody>
                  <a:tcPr marL="128016" marR="128016" anchor="ctr">
                    <a:solidFill>
                      <a:srgbClr val="156082"/>
                    </a:solidFill>
                  </a:tcPr>
                </a:tc>
              </a:tr>
              <a:tr h="868680">
                <a:tc>
                  <a:txBody>
                    <a:bodyPr wrap="square"/>
                    <a:lstStyle/>
                    <a:p>
                      <a:pPr>
                        <a:buNone/>
                      </a:pPr>
                      <a:r>
                        <a:rPr sz="1700">
                          <a:solidFill>
                            <a:srgbClr val="232F3E"/>
                          </a:solidFill>
                        </a:rPr>
                        <a:t>“Adding to the end of an array is always O(1)”</a:t>
                      </a:r>
                    </a:p>
                  </a:txBody>
                  <a:tcPr marL="128016" marR="128016" anchor="ctr">
                    <a:solidFill>
                      <a:srgbClr val="FFFFFF"/>
                    </a:solidFill>
                  </a:tcPr>
                </a:tc>
                <a:tc>
                  <a:txBody>
                    <a:bodyPr wrap="square"/>
                    <a:lstStyle/>
                    <a:p>
                      <a:pPr>
                        <a:buNone/>
                      </a:pPr>
                      <a:r>
                        <a:rPr sz="1700">
                          <a:solidFill>
                            <a:srgbClr val="232F3E"/>
                          </a:solidFill>
                        </a:rPr>
                        <a:t>O(1) </a:t>
                      </a:r>
                      <a:r>
                        <a:rPr b="1" sz="1700">
                          <a:solidFill>
                            <a:srgbClr val="156082"/>
                          </a:solidFill>
                        </a:rPr>
                        <a:t>amortized</a:t>
                      </a:r>
                      <a:r>
                        <a:rPr sz="1700">
                          <a:solidFill>
                            <a:srgbClr val="232F3E"/>
                          </a:solidFill>
                        </a:rPr>
                        <a:t> — the array is copied when it fills (§2.1)</a:t>
                      </a:r>
                    </a:p>
                  </a:txBody>
                  <a:tcPr marL="128016" marR="128016" anchor="ctr">
                    <a:solidFill>
                      <a:srgbClr val="FFFFFF"/>
                    </a:solidFill>
                  </a:tcPr>
                </a:tc>
              </a:tr>
              <a:tr h="868680">
                <a:tc>
                  <a:txBody>
                    <a:bodyPr wrap="square"/>
                    <a:lstStyle/>
                    <a:p>
                      <a:pPr>
                        <a:buNone/>
                      </a:pPr>
                      <a:r>
                        <a:rPr sz="1700">
                          <a:solidFill>
                            <a:srgbClr val="232F3E"/>
                          </a:solidFill>
                        </a:rPr>
                        <a:t>“Getting an element is also fast, about O(1)” (linked list)</a:t>
                      </a:r>
                    </a:p>
                  </a:txBody>
                  <a:tcPr marL="128016" marR="128016" anchor="ctr">
                    <a:solidFill>
                      <a:srgbClr val="F4F6F8"/>
                    </a:solidFill>
                  </a:tcPr>
                </a:tc>
                <a:tc>
                  <a:txBody>
                    <a:bodyPr wrap="square"/>
                    <a:lstStyle/>
                    <a:p>
                      <a:pPr>
                        <a:buNone/>
                      </a:pPr>
                      <a:r>
                        <a:rPr sz="1700">
                          <a:solidFill>
                            <a:srgbClr val="232F3E"/>
                          </a:solidFill>
                        </a:rPr>
                        <a:t>O(1 + min{i, n − i}) — following pointers </a:t>
                      </a:r>
                      <a:r>
                        <a:rPr i="1" b="0" sz="1700">
                          <a:solidFill>
                            <a:srgbClr val="232F3E"/>
                          </a:solidFill>
                        </a:rPr>
                        <a:t>is</a:t>
                      </a:r>
                      <a:r>
                        <a:rPr sz="1700">
                          <a:solidFill>
                            <a:srgbClr val="232F3E"/>
                          </a:solidFill>
                        </a:rPr>
                        <a:t> the cost (Table 1.1)</a:t>
                      </a:r>
                    </a:p>
                  </a:txBody>
                  <a:tcPr marL="128016" marR="128016" anchor="ctr">
                    <a:solidFill>
                      <a:srgbClr val="F4F6F8"/>
                    </a:solidFill>
                  </a:tcPr>
                </a:tc>
              </a:tr>
              <a:tr h="868680">
                <a:tc>
                  <a:txBody>
                    <a:bodyPr wrap="square"/>
                    <a:lstStyle/>
                    <a:p>
                      <a:pPr>
                        <a:buNone/>
                      </a:pPr>
                      <a:r>
                        <a:rPr sz="1700">
                          <a:solidFill>
                            <a:srgbClr val="232F3E"/>
                          </a:solidFill>
                        </a:rPr>
                        <a:t>“In an array you also just put the element in, so it is also fast”</a:t>
                      </a:r>
                    </a:p>
                  </a:txBody>
                  <a:tcPr marL="128016" marR="128016" anchor="ctr">
                    <a:solidFill>
                      <a:srgbClr val="FFFFFF"/>
                    </a:solidFill>
                  </a:tcPr>
                </a:tc>
                <a:tc>
                  <a:txBody>
                    <a:bodyPr wrap="square"/>
                    <a:lstStyle/>
                    <a:p>
                      <a:pPr>
                        <a:buNone/>
                      </a:pPr>
                      <a:r>
                        <a:rPr sz="1700">
                          <a:solidFill>
                            <a:srgbClr val="232F3E"/>
                          </a:solidFill>
                        </a:rPr>
                        <a:t>O(1 + n − i) — every later element shifts to make room (§2.1)</a:t>
                      </a:r>
                    </a:p>
                  </a:txBody>
                  <a:tcPr marL="128016" marR="128016" anchor="ctr">
                    <a:solidFill>
                      <a:srgbClr val="FFFFFF"/>
                    </a:solidFill>
                  </a:tcPr>
                </a:tc>
              </a:tr>
            </a:tbl>
          </a:graphicData>
        </a:graphic>
      </p:graphicFrame>
      <p:sp>
        <p:nvSpPr>
          <p:cNvPr id="8" name="Rounded Rectangle 7"/>
          <p:cNvSpPr/>
          <p:nvPr/>
        </p:nvSpPr>
        <p:spPr>
          <a:xfrm>
            <a:off x="1737360" y="5074920"/>
            <a:ext cx="8686800" cy="77724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rubric carries the expertise, so the grader doesn't have 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Your turn: a rubric for your assignment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Open</a:t>
            </a:r>
            <a:r>
              <a:rPr sz="1800">
                <a:solidFill>
                  <a:srgbClr val="232F3E"/>
                </a:solidFill>
              </a:rPr>
              <a:t> the Rubric Builder app (link on your table card)</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Paste</a:t>
            </a:r>
            <a:r>
              <a:rPr sz="1800">
                <a:solidFill>
                  <a:srgbClr val="232F3E"/>
                </a:solidFill>
              </a:rPr>
              <a:t> your assignment prompt and learning objectives</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Generate</a:t>
            </a:r>
            <a:r>
              <a:rPr sz="1800">
                <a:solidFill>
                  <a:srgbClr val="232F3E"/>
                </a:solidFill>
              </a:rPr>
              <a:t>, then read every criterion</a:t>
            </a:r>
          </a:p>
        </p:txBody>
      </p:sp>
      <p:sp>
        <p:nvSpPr>
          <p:cNvPr id="13" name="Chevron 12"/>
          <p:cNvSpPr/>
          <p:nvPr/>
        </p:nvSpPr>
        <p:spPr>
          <a:xfrm rot="5400000">
            <a:off x="374903" y="4270248"/>
            <a:ext cx="1005840"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170432" y="4151376"/>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Edit</a:t>
            </a:r>
            <a:r>
              <a:rPr sz="1800">
                <a:solidFill>
                  <a:srgbClr val="232F3E"/>
                </a:solidFill>
              </a:rPr>
              <a:t> anything you wouldn't actually grade on</a:t>
            </a:r>
          </a:p>
        </p:txBody>
      </p:sp>
      <p:sp>
        <p:nvSpPr>
          <p:cNvPr id="15" name="Rounded Rectangle 14"/>
          <p:cNvSpPr/>
          <p:nvPr/>
        </p:nvSpPr>
        <p:spPr>
          <a:xfrm>
            <a:off x="7726679" y="1463040"/>
            <a:ext cx="40690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Check it</a:t>
            </a:r>
          </a:p>
          <a:p>
            <a:pPr algn="l" marL="342900" indent="-342900">
              <a:spcAft>
                <a:spcPts val="800"/>
              </a:spcAft>
              <a:buFont typeface="Arial"/>
              <a:buChar char="•"/>
            </a:pPr>
            <a:r>
              <a:rPr sz="1800">
                <a:solidFill>
                  <a:srgbClr val="232F3E"/>
                </a:solidFill>
              </a:rPr>
              <a:t>Does every criterion map to an </a:t>
            </a:r>
            <a:r>
              <a:rPr b="1" sz="1800">
                <a:solidFill>
                  <a:srgbClr val="156082"/>
                </a:solidFill>
              </a:rPr>
              <a:t>objective</a:t>
            </a:r>
            <a:r>
              <a:rPr sz="1800">
                <a:solidFill>
                  <a:srgbClr val="232F3E"/>
                </a:solidFill>
              </a:rPr>
              <a:t>?</a:t>
            </a:r>
          </a:p>
          <a:p>
            <a:pPr algn="l" marL="342900" indent="-342900">
              <a:spcAft>
                <a:spcPts val="800"/>
              </a:spcAft>
              <a:buFont typeface="Arial"/>
              <a:buChar char="•"/>
            </a:pPr>
            <a:r>
              <a:rPr sz="1800">
                <a:solidFill>
                  <a:srgbClr val="232F3E"/>
                </a:solidFill>
              </a:rPr>
              <a:t>Could a colleague tell a </a:t>
            </a:r>
            <a:r>
              <a:rPr b="1" sz="1800">
                <a:solidFill>
                  <a:srgbClr val="156082"/>
                </a:solidFill>
              </a:rPr>
              <a:t>2 from a 3</a:t>
            </a:r>
            <a:r>
              <a:rPr sz="1800">
                <a:solidFill>
                  <a:srgbClr val="232F3E"/>
                </a:solidFill>
              </a:rPr>
              <a:t>?</a:t>
            </a:r>
          </a:p>
          <a:p>
            <a:pPr algn="l" marL="342900" indent="-342900">
              <a:spcAft>
                <a:spcPts val="800"/>
              </a:spcAft>
              <a:buFont typeface="Arial"/>
              <a:buChar char="•"/>
            </a:pPr>
            <a:r>
              <a:rPr sz="1800">
                <a:solidFill>
                  <a:srgbClr val="232F3E"/>
                </a:solidFill>
              </a:rPr>
              <a:t>Does anything check that claims are </a:t>
            </a:r>
            <a:r>
              <a:rPr b="1" sz="1800">
                <a:solidFill>
                  <a:srgbClr val="156082"/>
                </a:solidFill>
              </a:rPr>
              <a:t>correct</a:t>
            </a:r>
            <a:r>
              <a:rPr sz="1800">
                <a:solidFill>
                  <a:srgbClr val="232F3E"/>
                </a:solidFill>
              </a:rPr>
              <a:t>?</a:t>
            </a:r>
          </a:p>
          <a:p>
            <a:pPr algn="l" marL="342900" indent="-342900">
              <a:spcBef>
                <a:spcPts val="1000"/>
              </a:spcBef>
              <a:spcAft>
                <a:spcPts val="800"/>
              </a:spcAft>
              <a:buFont typeface="Arial"/>
              <a:buChar char="•"/>
            </a:pPr>
            <a:r>
              <a:rPr i="1" sz="1500">
                <a:solidFill>
                  <a:srgbClr val="5F6B7A"/>
                </a:solidFill>
              </a:rPr>
              <a:t>Assignments and rubrics only — never student work.</a:t>
            </a:r>
          </a:p>
        </p:txBody>
      </p:sp>
      <p:sp>
        <p:nvSpPr>
          <p:cNvPr id="16" name="Rounded Rectangle 15"/>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12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AI-Proofing Assistant</a:t>
            </a:r>
          </a:p>
        </p:txBody>
      </p:sp>
      <p:sp>
        <p:nvSpPr>
          <p:cNvPr id="3" name="Text Placeholder 2"/>
          <p:cNvSpPr>
            <a:spLocks noGrp="1"/>
          </p:cNvSpPr>
          <p:nvPr>
            <p:ph type="body" idx="2"/>
          </p:nvPr>
        </p:nvSpPr>
        <p:spPr/>
        <p:txBody>
          <a:bodyPr wrap="square"/>
          <a:lstStyle/>
          <a:p>
            <a:r>
              <a:rPr i="1"/>
              <a:t>Harden the assignment before it goes out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Could a chatbot do this assignment?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Predict:</a:t>
            </a:r>
            <a:r>
              <a:rPr sz="1800">
                <a:solidFill>
                  <a:srgbClr val="232F3E"/>
                </a:solidFill>
              </a:rPr>
              <a:t> which requirements could a chatbot meet in 30 seconds?</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Paste</a:t>
            </a:r>
            <a:r>
              <a:rPr sz="1800">
                <a:solidFill>
                  <a:srgbClr val="232F3E"/>
                </a:solidFill>
              </a:rPr>
              <a:t> your assignment and your new rubric</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Read the flags:</a:t>
            </a:r>
            <a:r>
              <a:rPr sz="1800">
                <a:solidFill>
                  <a:srgbClr val="232F3E"/>
                </a:solidFill>
              </a:rPr>
              <a:t> what a chatbot could do without your course</a:t>
            </a:r>
          </a:p>
        </p:txBody>
      </p:sp>
      <p:sp>
        <p:nvSpPr>
          <p:cNvPr id="13" name="Chevron 12"/>
          <p:cNvSpPr/>
          <p:nvPr/>
        </p:nvSpPr>
        <p:spPr>
          <a:xfrm rot="5400000">
            <a:off x="374903" y="4270248"/>
            <a:ext cx="1005840"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170432" y="4151376"/>
            <a:ext cx="61447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Choose</a:t>
            </a:r>
            <a:r>
              <a:rPr sz="1800">
                <a:solidFill>
                  <a:srgbClr val="232F3E"/>
                </a:solidFill>
              </a:rPr>
              <a:t> the revisions you'll actually make</a:t>
            </a:r>
          </a:p>
        </p:txBody>
      </p:sp>
      <p:sp>
        <p:nvSpPr>
          <p:cNvPr id="15" name="Rounded Rectangle 14"/>
          <p:cNvSpPr/>
          <p:nvPr/>
        </p:nvSpPr>
        <p:spPr>
          <a:xfrm>
            <a:off x="7726679" y="1463040"/>
            <a:ext cx="40690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Check your prediction</a:t>
            </a:r>
          </a:p>
          <a:p>
            <a:pPr algn="l" marL="342900" indent="-342900">
              <a:spcAft>
                <a:spcPts val="800"/>
              </a:spcAft>
              <a:buFont typeface="Arial"/>
              <a:buChar char="•"/>
            </a:pPr>
            <a:r>
              <a:rPr sz="1800">
                <a:solidFill>
                  <a:srgbClr val="232F3E"/>
                </a:solidFill>
              </a:rPr>
              <a:t>Which requirement did it flag that you didn't?</a:t>
            </a:r>
          </a:p>
          <a:p>
            <a:pPr algn="l" marL="342900" indent="-342900">
              <a:spcAft>
                <a:spcPts val="800"/>
              </a:spcAft>
              <a:buFont typeface="Arial"/>
              <a:buChar char="•"/>
            </a:pPr>
            <a:r>
              <a:rPr sz="1800">
                <a:solidFill>
                  <a:srgbClr val="232F3E"/>
                </a:solidFill>
              </a:rPr>
              <a:t>Which suggested change would you actually make?</a:t>
            </a:r>
          </a:p>
          <a:p>
            <a:pPr algn="l" marL="342900" indent="-342900">
              <a:spcAft>
                <a:spcPts val="800"/>
              </a:spcAft>
              <a:buFont typeface="Arial"/>
              <a:buChar char="•"/>
            </a:pPr>
            <a:r>
              <a:rPr sz="1800">
                <a:solidFill>
                  <a:srgbClr val="232F3E"/>
                </a:solidFill>
              </a:rPr>
              <a:t>Which one would change what students </a:t>
            </a:r>
            <a:r>
              <a:rPr b="1" sz="1800">
                <a:solidFill>
                  <a:srgbClr val="156082"/>
                </a:solidFill>
              </a:rPr>
              <a:t>learn</a:t>
            </a:r>
            <a:r>
              <a:rPr sz="1800">
                <a:solidFill>
                  <a:srgbClr val="232F3E"/>
                </a:solidFill>
              </a:rPr>
              <a:t>, not just what they submit?</a:t>
            </a:r>
          </a:p>
        </p:txBody>
      </p:sp>
      <p:sp>
        <p:nvSpPr>
          <p:cNvPr id="16" name="Rounded Rectangle 15"/>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10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The Grading Assistant</a:t>
            </a:r>
          </a:p>
        </p:txBody>
      </p:sp>
      <p:sp>
        <p:nvSpPr>
          <p:cNvPr id="3" name="Text Placeholder 2"/>
          <p:cNvSpPr>
            <a:spLocks noGrp="1"/>
          </p:cNvSpPr>
          <p:nvPr>
            <p:ph type="body" idx="2"/>
          </p:nvPr>
        </p:nvSpPr>
        <p:spPr/>
        <p:txBody>
          <a:bodyPr wrap="square"/>
          <a:lstStyle/>
          <a:p>
            <a:r>
              <a:rPr i="1"/>
              <a:t>Grade against the rubric, built spec‑first in Kiro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Review the spec before the code</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374903" y="1581912"/>
            <a:ext cx="1005840"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170432" y="1463040"/>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Requirements</a:t>
            </a:r>
            <a:r>
              <a:rPr sz="1800">
                <a:solidFill>
                  <a:srgbClr val="232F3E"/>
                </a:solidFill>
              </a:rPr>
              <a:t> — what it must do</a:t>
            </a:r>
          </a:p>
        </p:txBody>
      </p:sp>
      <p:sp>
        <p:nvSpPr>
          <p:cNvPr id="9" name="Chevron 8"/>
          <p:cNvSpPr/>
          <p:nvPr/>
        </p:nvSpPr>
        <p:spPr>
          <a:xfrm rot="5400000">
            <a:off x="374903" y="2478024"/>
            <a:ext cx="1005840"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170432" y="2359152"/>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Design</a:t>
            </a:r>
            <a:r>
              <a:rPr sz="1800">
                <a:solidFill>
                  <a:srgbClr val="232F3E"/>
                </a:solidFill>
              </a:rPr>
              <a:t> — how it will do it</a:t>
            </a:r>
          </a:p>
        </p:txBody>
      </p:sp>
      <p:sp>
        <p:nvSpPr>
          <p:cNvPr id="11" name="Chevron 10"/>
          <p:cNvSpPr/>
          <p:nvPr/>
        </p:nvSpPr>
        <p:spPr>
          <a:xfrm rot="5400000">
            <a:off x="374903" y="3374136"/>
            <a:ext cx="1005840"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170432" y="3255264"/>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Tasks</a:t>
            </a:r>
            <a:r>
              <a:rPr sz="1800">
                <a:solidFill>
                  <a:srgbClr val="232F3E"/>
                </a:solidFill>
              </a:rPr>
              <a:t> — the build checklist</a:t>
            </a:r>
          </a:p>
        </p:txBody>
      </p:sp>
      <p:sp>
        <p:nvSpPr>
          <p:cNvPr id="13" name="Chevron 12"/>
          <p:cNvSpPr/>
          <p:nvPr/>
        </p:nvSpPr>
        <p:spPr>
          <a:xfrm rot="5400000">
            <a:off x="374903" y="4270248"/>
            <a:ext cx="1005840"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170432" y="4151376"/>
            <a:ext cx="4773168" cy="71323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1800">
                <a:solidFill>
                  <a:srgbClr val="156082"/>
                </a:solidFill>
              </a:rPr>
              <a:t>Code</a:t>
            </a:r>
            <a:r>
              <a:rPr sz="1800">
                <a:solidFill>
                  <a:srgbClr val="232F3E"/>
                </a:solidFill>
              </a:rPr>
              <a:t> — only after you approve all three</a:t>
            </a:r>
          </a:p>
        </p:txBody>
      </p:sp>
      <p:sp>
        <p:nvSpPr>
          <p:cNvPr id="15" name="Rounded Rectangle 14"/>
          <p:cNvSpPr/>
          <p:nvPr/>
        </p:nvSpPr>
        <p:spPr>
          <a:xfrm>
            <a:off x="6355080" y="1463040"/>
            <a:ext cx="5440680" cy="361188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Spot the flaw</a:t>
            </a:r>
          </a:p>
          <a:p>
            <a:pPr algn="l">
              <a:spcAft>
                <a:spcPts val="800"/>
              </a:spcAft>
              <a:buNone/>
            </a:pPr>
            <a:r>
              <a:rPr b="1" sz="1800">
                <a:solidFill>
                  <a:srgbClr val="156082"/>
                </a:solidFill>
              </a:rPr>
              <a:t>①</a:t>
            </a:r>
            <a:r>
              <a:rPr sz="1800">
                <a:solidFill>
                  <a:srgbClr val="232F3E"/>
                </a:solidFill>
              </a:rPr>
              <a:t> WHEN a roster student has no paper, THE system SHALL flag them </a:t>
            </a:r>
            <a:r>
              <a:rPr i="1" b="0" sz="1800">
                <a:solidFill>
                  <a:srgbClr val="232F3E"/>
                </a:solidFill>
              </a:rPr>
              <a:t>missing</a:t>
            </a:r>
            <a:r>
              <a:rPr sz="1800">
                <a:solidFill>
                  <a:srgbClr val="232F3E"/>
                </a:solidFill>
              </a:rPr>
              <a:t> and SHALL NOT score them.</a:t>
            </a:r>
          </a:p>
          <a:p>
            <a:pPr algn="l">
              <a:spcAft>
                <a:spcPts val="800"/>
              </a:spcAft>
              <a:buNone/>
            </a:pPr>
            <a:r>
              <a:rPr b="1" sz="1800">
                <a:solidFill>
                  <a:srgbClr val="156082"/>
                </a:solidFill>
              </a:rPr>
              <a:t>②</a:t>
            </a:r>
            <a:r>
              <a:rPr sz="1800">
                <a:solidFill>
                  <a:srgbClr val="232F3E"/>
                </a:solidFill>
              </a:rPr>
              <a:t> WHEN a paper is submitted, THE system SHALL grade it fairly.</a:t>
            </a:r>
          </a:p>
          <a:p>
            <a:pPr algn="ctr">
              <a:spcBef>
                <a:spcPts val="1200"/>
              </a:spcBef>
              <a:spcAft>
                <a:spcPts val="800"/>
              </a:spcAft>
              <a:buNone/>
            </a:pPr>
            <a:r>
              <a:rPr b="1" sz="2000">
                <a:solidFill>
                  <a:srgbClr val="232F3E"/>
                </a:solidFill>
              </a:rPr>
              <a:t>Which one can't you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Three design decisions</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The math is in code</a:t>
            </a:r>
          </a:p>
          <a:p>
            <a:pPr algn="l">
              <a:spcAft>
                <a:spcPts val="800"/>
              </a:spcAft>
              <a:buNone/>
            </a:pPr>
            <a:r>
              <a:rPr sz="1800">
                <a:solidFill>
                  <a:srgbClr val="232F3E"/>
                </a:solidFill>
              </a:rPr>
              <a:t>The model picks a 0–4 tier for each criterion.</a:t>
            </a:r>
          </a:p>
          <a:p>
            <a:pPr algn="l">
              <a:spcAft>
                <a:spcPts val="800"/>
              </a:spcAft>
              <a:buNone/>
            </a:pPr>
            <a:r>
              <a:rPr sz="1800">
                <a:solidFill>
                  <a:srgbClr val="232F3E"/>
                </a:solidFill>
              </a:rPr>
              <a:t>The weighted grade is </a:t>
            </a:r>
            <a:r>
              <a:rPr b="1" sz="1800">
                <a:solidFill>
                  <a:srgbClr val="156082"/>
                </a:solidFill>
              </a:rPr>
              <a:t>calculated</a:t>
            </a:r>
            <a:r>
              <a:rPr sz="1800">
                <a:solidFill>
                  <a:srgbClr val="232F3E"/>
                </a:solidFill>
              </a:rPr>
              <a:t>, never generated.</a:t>
            </a:r>
          </a:p>
        </p:txBody>
      </p:sp>
      <p:sp>
        <p:nvSpPr>
          <p:cNvPr id="8" name="Rounded Rectangle 7"/>
          <p:cNvSpPr/>
          <p:nvPr/>
        </p:nvSpPr>
        <p:spPr>
          <a:xfrm>
            <a:off x="4279392"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Correct means per your reading</a:t>
            </a:r>
          </a:p>
          <a:p>
            <a:pPr algn="l">
              <a:spcAft>
                <a:spcPts val="800"/>
              </a:spcAft>
              <a:buNone/>
            </a:pPr>
            <a:r>
              <a:rPr sz="1800">
                <a:solidFill>
                  <a:srgbClr val="232F3E"/>
                </a:solidFill>
              </a:rPr>
              <a:t>Claims are checked against the course material you load — not the model's general knowledge.</a:t>
            </a:r>
          </a:p>
        </p:txBody>
      </p:sp>
      <p:sp>
        <p:nvSpPr>
          <p:cNvPr id="9" name="Rounded Rectangle 8"/>
          <p:cNvSpPr/>
          <p:nvPr/>
        </p:nvSpPr>
        <p:spPr>
          <a:xfrm>
            <a:off x="8101583" y="1508760"/>
            <a:ext cx="3566160" cy="30632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Everyone is accounted for</a:t>
            </a:r>
          </a:p>
          <a:p>
            <a:pPr algn="l">
              <a:spcAft>
                <a:spcPts val="800"/>
              </a:spcAft>
              <a:buNone/>
            </a:pPr>
            <a:r>
              <a:rPr sz="1800">
                <a:solidFill>
                  <a:srgbClr val="232F3E"/>
                </a:solidFill>
              </a:rPr>
              <a:t>The roster is checked. Diego shows up as </a:t>
            </a:r>
            <a:r>
              <a:rPr b="1" sz="1800">
                <a:solidFill>
                  <a:srgbClr val="156082"/>
                </a:solidFill>
              </a:rPr>
              <a:t>missing</a:t>
            </a:r>
            <a:r>
              <a:rPr sz="1800">
                <a:solidFill>
                  <a:srgbClr val="232F3E"/>
                </a:solidFill>
              </a:rPr>
              <a:t> instead of silently disappearing.</a:t>
            </a:r>
          </a:p>
        </p:txBody>
      </p:sp>
      <p:sp>
        <p:nvSpPr>
          <p:cNvPr id="10" name="Rounded Rectangle 9"/>
          <p:cNvSpPr/>
          <p:nvPr/>
        </p:nvSpPr>
        <p:spPr>
          <a:xfrm>
            <a:off x="1737360" y="4937760"/>
            <a:ext cx="8686800" cy="77724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000">
                <a:solidFill>
                  <a:srgbClr val="FFFFFF"/>
                </a:solidFill>
              </a:rPr>
              <a:t>The model judges. The code counts. The instructor decides.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Five students, one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graphicFrame>
        <p:nvGraphicFramePr>
          <p:cNvPr id="7" name="Table 6"/>
          <p:cNvGraphicFramePr>
            <a:graphicFrameLocks noGrp="1"/>
          </p:cNvGraphicFramePr>
          <p:nvPr/>
        </p:nvGraphicFramePr>
        <p:xfrm>
          <a:off x="731520" y="1371600"/>
          <a:ext cx="10698480" cy="3511296"/>
        </p:xfrm>
        <a:graphic>
          <a:graphicData uri="http://schemas.openxmlformats.org/drawingml/2006/table">
            <a:tbl>
              <a:tblPr firstRow="1" bandRow="1">
                <a:tableStyleId>{5C22544A-7EE6-4342-B048-85BDC9FD1C3A}</a:tableStyleId>
              </a:tblPr>
              <a:tblGrid>
                <a:gridCol w="3017520"/>
                <a:gridCol w="4206240"/>
                <a:gridCol w="3474720"/>
              </a:tblGrid>
              <a:tr h="585216">
                <a:tc>
                  <a:txBody>
                    <a:bodyPr wrap="square"/>
                    <a:lstStyle/>
                    <a:p>
                      <a:pPr>
                        <a:buNone/>
                      </a:pPr>
                      <a:r>
                        <a:rPr b="1" sz="1800">
                          <a:solidFill>
                            <a:srgbClr val="FFFFFF"/>
                          </a:solidFill>
                        </a:rPr>
                        <a:t>Student</a:t>
                      </a:r>
                    </a:p>
                  </a:txBody>
                  <a:tcPr marL="128016" marR="128016" anchor="ctr">
                    <a:solidFill>
                      <a:srgbClr val="156082"/>
                    </a:solidFill>
                  </a:tcPr>
                </a:tc>
                <a:tc>
                  <a:txBody>
                    <a:bodyPr wrap="square"/>
                    <a:lstStyle/>
                    <a:p>
                      <a:pPr>
                        <a:buNone/>
                      </a:pPr>
                      <a:r>
                        <a:rPr b="1" sz="1800">
                          <a:solidFill>
                            <a:srgbClr val="FFFFFF"/>
                          </a:solidFill>
                        </a:rPr>
                        <a:t>What it is</a:t>
                      </a:r>
                    </a:p>
                  </a:txBody>
                  <a:tcPr marL="128016" marR="128016" anchor="ctr">
                    <a:solidFill>
                      <a:srgbClr val="156082"/>
                    </a:solidFill>
                  </a:tcPr>
                </a:tc>
                <a:tc>
                  <a:txBody>
                    <a:bodyPr wrap="square"/>
                    <a:lstStyle/>
                    <a:p>
                      <a:pPr>
                        <a:buNone/>
                      </a:pPr>
                      <a:r>
                        <a:rPr b="1" sz="1800">
                          <a:solidFill>
                            <a:srgbClr val="FFFFFF"/>
                          </a:solidFill>
                        </a:rPr>
                        <a:t>Draft grade</a:t>
                      </a:r>
                    </a:p>
                  </a:txBody>
                  <a:tcPr marL="128016" marR="128016" anchor="ctr">
                    <a:solidFill>
                      <a:srgbClr val="156082"/>
                    </a:solidFill>
                  </a:tcPr>
                </a:tc>
              </a:tr>
              <a:tr h="585216">
                <a:tc>
                  <a:txBody>
                    <a:bodyPr wrap="square"/>
                    <a:lstStyle/>
                    <a:p>
                      <a:pPr>
                        <a:buNone/>
                      </a:pPr>
                      <a:r>
                        <a:rPr sz="1800">
                          <a:solidFill>
                            <a:srgbClr val="232F3E"/>
                          </a:solidFill>
                        </a:rPr>
                        <a:t>Aisha Rahman</a:t>
                      </a:r>
                    </a:p>
                  </a:txBody>
                  <a:tcPr marL="128016" marR="128016" anchor="ctr">
                    <a:solidFill>
                      <a:srgbClr val="FFFFFF"/>
                    </a:solidFill>
                  </a:tcPr>
                </a:tc>
                <a:tc>
                  <a:txBody>
                    <a:bodyPr wrap="square"/>
                    <a:lstStyle/>
                    <a:p>
                      <a:pPr>
                        <a:buNone/>
                      </a:pPr>
                      <a:r>
                        <a:rPr sz="1800">
                          <a:solidFill>
                            <a:srgbClr val="232F3E"/>
                          </a:solidFill>
                        </a:rPr>
                        <a:t>Strong, correct</a:t>
                      </a:r>
                    </a:p>
                  </a:txBody>
                  <a:tcPr marL="128016" marR="128016" anchor="ctr">
                    <a:solidFill>
                      <a:srgbClr val="FFFFFF"/>
                    </a:solidFill>
                  </a:tcPr>
                </a:tc>
                <a:tc>
                  <a:txBody>
                    <a:bodyPr wrap="square"/>
                    <a:lstStyle/>
                    <a:p>
                      <a:pPr>
                        <a:buNone/>
                      </a:pPr>
                      <a:r>
                        <a:rPr sz="1800">
                          <a:solidFill>
                            <a:srgbClr val="232F3E"/>
                          </a:solidFill>
                        </a:rPr>
                        <a:t>91% · A-</a:t>
                      </a:r>
                    </a:p>
                  </a:txBody>
                  <a:tcPr marL="128016" marR="128016" anchor="ctr">
                    <a:solidFill>
                      <a:srgbClr val="FFFFFF"/>
                    </a:solidFill>
                  </a:tcPr>
                </a:tc>
              </a:tr>
              <a:tr h="585216">
                <a:tc>
                  <a:txBody>
                    <a:bodyPr wrap="square"/>
                    <a:lstStyle/>
                    <a:p>
                      <a:pPr>
                        <a:buNone/>
                      </a:pPr>
                      <a:r>
                        <a:rPr sz="1800">
                          <a:solidFill>
                            <a:srgbClr val="232F3E"/>
                          </a:solidFill>
                        </a:rPr>
                        <a:t>Marcus Lee</a:t>
                      </a:r>
                    </a:p>
                  </a:txBody>
                  <a:tcPr marL="128016" marR="128016" anchor="ctr">
                    <a:solidFill>
                      <a:srgbClr val="F4F6F8"/>
                    </a:solidFill>
                  </a:tcPr>
                </a:tc>
                <a:tc>
                  <a:txBody>
                    <a:bodyPr wrap="square"/>
                    <a:lstStyle/>
                    <a:p>
                      <a:pPr>
                        <a:buNone/>
                      </a:pPr>
                      <a:r>
                        <a:rPr sz="1800">
                          <a:solidFill>
                            <a:srgbClr val="232F3E"/>
                          </a:solidFill>
                        </a:rPr>
                        <a:t>Fluent, confident, wrong</a:t>
                      </a:r>
                    </a:p>
                  </a:txBody>
                  <a:tcPr marL="128016" marR="128016" anchor="ctr">
                    <a:solidFill>
                      <a:srgbClr val="F4F6F8"/>
                    </a:solidFill>
                  </a:tcPr>
                </a:tc>
                <a:tc>
                  <a:txBody>
                    <a:bodyPr wrap="square"/>
                    <a:lstStyle/>
                    <a:p>
                      <a:pPr>
                        <a:buNone/>
                      </a:pPr>
                      <a:r>
                        <a:rPr sz="1800">
                          <a:solidFill>
                            <a:srgbClr val="232F3E"/>
                          </a:solidFill>
                        </a:rPr>
                        <a:t>38% · F</a:t>
                      </a:r>
                    </a:p>
                  </a:txBody>
                  <a:tcPr marL="128016" marR="128016" anchor="ctr">
                    <a:solidFill>
                      <a:srgbClr val="F4F6F8"/>
                    </a:solidFill>
                  </a:tcPr>
                </a:tc>
              </a:tr>
              <a:tr h="585216">
                <a:tc>
                  <a:txBody>
                    <a:bodyPr wrap="square"/>
                    <a:lstStyle/>
                    <a:p>
                      <a:pPr>
                        <a:buNone/>
                      </a:pPr>
                      <a:r>
                        <a:rPr sz="1800">
                          <a:solidFill>
                            <a:srgbClr val="232F3E"/>
                          </a:solidFill>
                        </a:rPr>
                        <a:t>Priya Chandra</a:t>
                      </a:r>
                    </a:p>
                  </a:txBody>
                  <a:tcPr marL="128016" marR="128016" anchor="ctr">
                    <a:solidFill>
                      <a:srgbClr val="FFFFFF"/>
                    </a:solidFill>
                  </a:tcPr>
                </a:tc>
                <a:tc>
                  <a:txBody>
                    <a:bodyPr wrap="square"/>
                    <a:lstStyle/>
                    <a:p>
                      <a:pPr>
                        <a:buNone/>
                      </a:pPr>
                      <a:r>
                        <a:rPr sz="1800">
                          <a:solidFill>
                            <a:srgbClr val="232F3E"/>
                          </a:solidFill>
                        </a:rPr>
                        <a:t>A reflection, not an analysis</a:t>
                      </a:r>
                    </a:p>
                  </a:txBody>
                  <a:tcPr marL="128016" marR="128016" anchor="ctr">
                    <a:solidFill>
                      <a:srgbClr val="FFFFFF"/>
                    </a:solidFill>
                  </a:tcPr>
                </a:tc>
                <a:tc>
                  <a:txBody>
                    <a:bodyPr wrap="square"/>
                    <a:lstStyle/>
                    <a:p>
                      <a:pPr>
                        <a:buNone/>
                      </a:pPr>
                      <a:r>
                        <a:rPr sz="1800">
                          <a:solidFill>
                            <a:srgbClr val="232F3E"/>
                          </a:solidFill>
                        </a:rPr>
                        <a:t>13% · F</a:t>
                      </a:r>
                    </a:p>
                  </a:txBody>
                  <a:tcPr marL="128016" marR="128016" anchor="ctr">
                    <a:solidFill>
                      <a:srgbClr val="FFFFFF"/>
                    </a:solidFill>
                  </a:tcPr>
                </a:tc>
              </a:tr>
              <a:tr h="585216">
                <a:tc>
                  <a:txBody>
                    <a:bodyPr wrap="square"/>
                    <a:lstStyle/>
                    <a:p>
                      <a:pPr>
                        <a:buNone/>
                      </a:pPr>
                      <a:r>
                        <a:rPr sz="1800">
                          <a:solidFill>
                            <a:srgbClr val="232F3E"/>
                          </a:solidFill>
                        </a:rPr>
                        <a:t>Leila Haddad</a:t>
                      </a:r>
                    </a:p>
                  </a:txBody>
                  <a:tcPr marL="128016" marR="128016" anchor="ctr">
                    <a:solidFill>
                      <a:srgbClr val="F4F6F8"/>
                    </a:solidFill>
                  </a:tcPr>
                </a:tc>
                <a:tc>
                  <a:txBody>
                    <a:bodyPr wrap="square"/>
                    <a:lstStyle/>
                    <a:p>
                      <a:pPr>
                        <a:buNone/>
                      </a:pPr>
                      <a:r>
                        <a:rPr sz="1800">
                          <a:solidFill>
                            <a:srgbClr val="232F3E"/>
                          </a:solidFill>
                        </a:rPr>
                        <a:t>Unfinished draft</a:t>
                      </a:r>
                    </a:p>
                  </a:txBody>
                  <a:tcPr marL="128016" marR="128016" anchor="ctr">
                    <a:solidFill>
                      <a:srgbClr val="F4F6F8"/>
                    </a:solidFill>
                  </a:tcPr>
                </a:tc>
                <a:tc>
                  <a:txBody>
                    <a:bodyPr wrap="square"/>
                    <a:lstStyle/>
                    <a:p>
                      <a:pPr>
                        <a:buNone/>
                      </a:pPr>
                      <a:r>
                        <a:rPr sz="1800">
                          <a:solidFill>
                            <a:srgbClr val="232F3E"/>
                          </a:solidFill>
                        </a:rPr>
                        <a:t>50% · F</a:t>
                      </a:r>
                    </a:p>
                  </a:txBody>
                  <a:tcPr marL="128016" marR="128016" anchor="ctr">
                    <a:solidFill>
                      <a:srgbClr val="F4F6F8"/>
                    </a:solidFill>
                  </a:tcPr>
                </a:tc>
              </a:tr>
              <a:tr h="585216">
                <a:tc>
                  <a:txBody>
                    <a:bodyPr wrap="square"/>
                    <a:lstStyle/>
                    <a:p>
                      <a:pPr>
                        <a:buNone/>
                      </a:pPr>
                      <a:r>
                        <a:rPr sz="1800">
                          <a:solidFill>
                            <a:srgbClr val="232F3E"/>
                          </a:solidFill>
                        </a:rPr>
                        <a:t>Diego Alvarez</a:t>
                      </a:r>
                    </a:p>
                  </a:txBody>
                  <a:tcPr marL="128016" marR="128016" anchor="ctr">
                    <a:solidFill>
                      <a:srgbClr val="FFFFFF"/>
                    </a:solidFill>
                  </a:tcPr>
                </a:tc>
                <a:tc>
                  <a:txBody>
                    <a:bodyPr wrap="square"/>
                    <a:lstStyle/>
                    <a:p>
                      <a:pPr>
                        <a:buNone/>
                      </a:pPr>
                      <a:r>
                        <a:rPr sz="1800">
                          <a:solidFill>
                            <a:srgbClr val="232F3E"/>
                          </a:solidFill>
                        </a:rPr>
                        <a:t>No paper</a:t>
                      </a:r>
                    </a:p>
                  </a:txBody>
                  <a:tcPr marL="128016" marR="128016" anchor="ctr">
                    <a:solidFill>
                      <a:srgbClr val="FFFFFF"/>
                    </a:solidFill>
                  </a:tcPr>
                </a:tc>
                <a:tc>
                  <a:txBody>
                    <a:bodyPr wrap="square"/>
                    <a:lstStyle/>
                    <a:p>
                      <a:pPr>
                        <a:buNone/>
                      </a:pPr>
                      <a:r>
                        <a:rPr b="1" sz="1800">
                          <a:solidFill>
                            <a:srgbClr val="156082"/>
                          </a:solidFill>
                        </a:rPr>
                        <a:t>Missing</a:t>
                      </a:r>
                      <a:r>
                        <a:rPr sz="1800">
                          <a:solidFill>
                            <a:srgbClr val="232F3E"/>
                          </a:solidFill>
                        </a:rPr>
                        <a:t> — flagged, not scored</a:t>
                      </a:r>
                    </a:p>
                  </a:txBody>
                  <a:tcPr marL="128016" marR="128016" anchor="ctr">
                    <a:solidFill>
                      <a:srgbClr val="FFFFFF"/>
                    </a:solidFill>
                  </a:tcPr>
                </a:tc>
              </a:tr>
            </a:tbl>
          </a:graphicData>
        </a:graphic>
      </p:graphicFrame>
      <p:sp>
        <p:nvSpPr>
          <p:cNvPr id="8" name="TextBox 7"/>
          <p:cNvSpPr txBox="1"/>
          <p:nvPr/>
        </p:nvSpPr>
        <p:spPr>
          <a:xfrm>
            <a:off x="731520" y="5074920"/>
            <a:ext cx="10698480" cy="731520"/>
          </a:xfrm>
          <a:prstGeom prst="rect">
            <a:avLst/>
          </a:prstGeom>
          <a:noFill/>
        </p:spPr>
        <p:txBody>
          <a:bodyPr wrap="square" anchor="t" lIns="45720" rIns="45720">
            <a:spAutoFit/>
          </a:bodyPr>
          <a:lstStyle/>
          <a:p>
            <a:pPr algn="ctr">
              <a:buNone/>
            </a:pPr>
            <a:r>
              <a:rPr i="1" sz="1600">
                <a:solidFill>
                  <a:srgbClr val="5F6B7A"/>
                </a:solidFill>
              </a:rPr>
              <a:t>Draft grades, hand-scored preview. The instructor reviews every one before anything is recorded.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rPr b="1"/>
              <a:t>Pre-Assessment Triage</a:t>
            </a:r>
          </a:p>
        </p:txBody>
      </p:sp>
      <p:sp>
        <p:nvSpPr>
          <p:cNvPr id="3" name="Text Placeholder 2"/>
          <p:cNvSpPr>
            <a:spLocks noGrp="1"/>
          </p:cNvSpPr>
          <p:nvPr>
            <p:ph type="body" idx="2"/>
          </p:nvPr>
        </p:nvSpPr>
        <p:spPr/>
        <p:txBody>
          <a:bodyPr wrap="square"/>
          <a:lstStyle/>
          <a:p>
            <a:r>
              <a:rPr i="1"/>
              <a:t>A rubric check before students submit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One line turns grading into triage</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731520" y="1417320"/>
            <a:ext cx="10698480" cy="182880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365760" rIns="365760" tIns="256031" bIns="256031"/>
          <a:lstStyle/>
          <a:p>
            <a:pPr algn="l">
              <a:spcAft>
                <a:spcPts val="600"/>
              </a:spcAft>
              <a:buNone/>
            </a:pPr>
            <a:r>
              <a:rPr sz="1900">
                <a:solidFill>
                  <a:srgbClr val="FFFFFF"/>
                </a:solidFill>
              </a:rPr>
              <a:t>“Add a Triage Mode for students. For each rubric criterion, compare the draft with the criterion's </a:t>
            </a:r>
            <a:r>
              <a:rPr i="1" b="0" sz="1900">
                <a:solidFill>
                  <a:srgbClr val="FFFFFF"/>
                </a:solidFill>
              </a:rPr>
              <a:t>present when</a:t>
            </a:r>
            <a:r>
              <a:rPr sz="1900">
                <a:solidFill>
                  <a:srgbClr val="FFFFFF"/>
                </a:solidFill>
              </a:rPr>
              <a:t> line and report </a:t>
            </a:r>
            <a:r>
              <a:rPr b="1" sz="1900">
                <a:solidFill>
                  <a:srgbClr val="8ACFF0"/>
                </a:solidFill>
              </a:rPr>
              <a:t>Present</a:t>
            </a:r>
            <a:r>
              <a:rPr sz="1900">
                <a:solidFill>
                  <a:srgbClr val="FFFFFF"/>
                </a:solidFill>
              </a:rPr>
              <a:t>, </a:t>
            </a:r>
            <a:r>
              <a:rPr b="1" sz="1900">
                <a:solidFill>
                  <a:srgbClr val="8ACFF0"/>
                </a:solidFill>
              </a:rPr>
              <a:t>Partial</a:t>
            </a:r>
            <a:r>
              <a:rPr sz="1900">
                <a:solidFill>
                  <a:srgbClr val="FFFFFF"/>
                </a:solidFill>
              </a:rPr>
              <a:t>, or </a:t>
            </a:r>
            <a:r>
              <a:rPr b="1" sz="1900">
                <a:solidFill>
                  <a:srgbClr val="8ACFF0"/>
                </a:solidFill>
              </a:rPr>
              <a:t>Missing</a:t>
            </a:r>
            <a:r>
              <a:rPr sz="1900">
                <a:solidFill>
                  <a:srgbClr val="FFFFFF"/>
                </a:solidFill>
              </a:rPr>
              <a:t>, quoting the passage it rests on. Never show a score, tier, or grade. Never rewrite the student's text or suggest wording.”</a:t>
            </a:r>
          </a:p>
        </p:txBody>
      </p:sp>
      <p:sp>
        <p:nvSpPr>
          <p:cNvPr id="8" name="TextBox 7"/>
          <p:cNvSpPr txBox="1"/>
          <p:nvPr/>
        </p:nvSpPr>
        <p:spPr>
          <a:xfrm>
            <a:off x="822960" y="3611880"/>
            <a:ext cx="10607040" cy="2103120"/>
          </a:xfrm>
          <a:prstGeom prst="rect">
            <a:avLst/>
          </a:prstGeom>
          <a:noFill/>
        </p:spPr>
        <p:txBody>
          <a:bodyPr wrap="square" anchor="t" lIns="45720" rIns="45720">
            <a:spAutoFit/>
          </a:bodyPr>
          <a:lstStyle/>
          <a:p>
            <a:pPr marL="342900" indent="-342900">
              <a:spcAft>
                <a:spcPts val="1000"/>
              </a:spcAft>
              <a:buFont typeface="Arial"/>
              <a:buChar char="•"/>
            </a:pPr>
            <a:r>
              <a:rPr sz="2100">
                <a:solidFill>
                  <a:srgbClr val="232F3E"/>
                </a:solidFill>
              </a:rPr>
              <a:t>It reads each criterion's </a:t>
            </a:r>
            <a:r>
              <a:rPr b="1" sz="2100">
                <a:solidFill>
                  <a:srgbClr val="156082"/>
                </a:solidFill>
              </a:rPr>
              <a:t>present when</a:t>
            </a:r>
            <a:r>
              <a:rPr sz="2100">
                <a:solidFill>
                  <a:srgbClr val="232F3E"/>
                </a:solidFill>
              </a:rPr>
              <a:t> line — never the weights or levels</a:t>
            </a:r>
          </a:p>
          <a:p>
            <a:pPr marL="342900" indent="-342900">
              <a:spcAft>
                <a:spcPts val="1000"/>
              </a:spcAft>
              <a:buFont typeface="Arial"/>
              <a:buChar char="•"/>
            </a:pPr>
            <a:r>
              <a:rPr sz="2100">
                <a:solidFill>
                  <a:srgbClr val="232F3E"/>
                </a:solidFill>
              </a:rPr>
              <a:t>So it has </a:t>
            </a:r>
            <a:r>
              <a:rPr b="1" sz="2100">
                <a:solidFill>
                  <a:srgbClr val="156082"/>
                </a:solidFill>
              </a:rPr>
              <a:t>nothing to calculate a score from</a:t>
            </a:r>
          </a:p>
          <a:p>
            <a:pPr marL="342900" indent="-342900">
              <a:spcAft>
                <a:spcPts val="1000"/>
              </a:spcAft>
              <a:buFont typeface="Arial"/>
              <a:buChar char="•"/>
            </a:pPr>
            <a:r>
              <a:rPr sz="2100">
                <a:solidFill>
                  <a:srgbClr val="232F3E"/>
                </a:solidFill>
              </a:rPr>
              <a:t>Same app, same rubric — a second mode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Priya's draft, a week early</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731520" y="1554480"/>
            <a:ext cx="4937760" cy="457200"/>
          </a:xfrm>
          <a:prstGeom prst="rect">
            <a:avLst/>
          </a:prstGeom>
          <a:noFill/>
        </p:spPr>
        <p:txBody>
          <a:bodyPr wrap="square" anchor="ctr" lIns="45720" rIns="45720">
            <a:spAutoFit/>
          </a:bodyPr>
          <a:lstStyle/>
          <a:p>
            <a:pPr>
              <a:buNone/>
            </a:pPr>
            <a:r>
              <a:rPr sz="2000">
                <a:solidFill>
                  <a:srgbClr val="232F3E"/>
                </a:solidFill>
              </a:rPr>
              <a:t>Thesis &amp; Choice of Structure</a:t>
            </a:r>
          </a:p>
        </p:txBody>
      </p:sp>
      <p:sp>
        <p:nvSpPr>
          <p:cNvPr id="8" name="Rounded Rectangle 7"/>
          <p:cNvSpPr/>
          <p:nvPr/>
        </p:nvSpPr>
        <p:spPr>
          <a:xfrm>
            <a:off x="5760720" y="1572768"/>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9" name="TextBox 8"/>
          <p:cNvSpPr txBox="1"/>
          <p:nvPr/>
        </p:nvSpPr>
        <p:spPr>
          <a:xfrm>
            <a:off x="731520" y="2304288"/>
            <a:ext cx="4937760" cy="457200"/>
          </a:xfrm>
          <a:prstGeom prst="rect">
            <a:avLst/>
          </a:prstGeom>
          <a:noFill/>
        </p:spPr>
        <p:txBody>
          <a:bodyPr wrap="square" anchor="ctr" lIns="45720" rIns="45720">
            <a:spAutoFit/>
          </a:bodyPr>
          <a:lstStyle/>
          <a:p>
            <a:pPr>
              <a:buNone/>
            </a:pPr>
            <a:r>
              <a:rPr sz="2000">
                <a:solidFill>
                  <a:srgbClr val="232F3E"/>
                </a:solidFill>
              </a:rPr>
              <a:t>Running-Time Analysis</a:t>
            </a:r>
          </a:p>
        </p:txBody>
      </p:sp>
      <p:sp>
        <p:nvSpPr>
          <p:cNvPr id="10" name="Rounded Rectangle 9"/>
          <p:cNvSpPr/>
          <p:nvPr/>
        </p:nvSpPr>
        <p:spPr>
          <a:xfrm>
            <a:off x="5760720" y="2322576"/>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1" name="TextBox 10"/>
          <p:cNvSpPr txBox="1"/>
          <p:nvPr/>
        </p:nvSpPr>
        <p:spPr>
          <a:xfrm>
            <a:off x="731520" y="3054096"/>
            <a:ext cx="4937760" cy="457200"/>
          </a:xfrm>
          <a:prstGeom prst="rect">
            <a:avLst/>
          </a:prstGeom>
          <a:noFill/>
        </p:spPr>
        <p:txBody>
          <a:bodyPr wrap="square" anchor="ctr" lIns="45720" rIns="45720">
            <a:spAutoFit/>
          </a:bodyPr>
          <a:lstStyle/>
          <a:p>
            <a:pPr>
              <a:buNone/>
            </a:pPr>
            <a:r>
              <a:rPr sz="2000">
                <a:solidFill>
                  <a:srgbClr val="232F3E"/>
                </a:solidFill>
              </a:rPr>
              <a:t>Evidence &amp; Scenario</a:t>
            </a:r>
          </a:p>
        </p:txBody>
      </p:sp>
      <p:sp>
        <p:nvSpPr>
          <p:cNvPr id="12" name="Rounded Rectangle 11"/>
          <p:cNvSpPr/>
          <p:nvPr/>
        </p:nvSpPr>
        <p:spPr>
          <a:xfrm>
            <a:off x="5760720" y="3072384"/>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3" name="TextBox 12"/>
          <p:cNvSpPr txBox="1"/>
          <p:nvPr/>
        </p:nvSpPr>
        <p:spPr>
          <a:xfrm>
            <a:off x="731520" y="3803904"/>
            <a:ext cx="4937760" cy="457200"/>
          </a:xfrm>
          <a:prstGeom prst="rect">
            <a:avLst/>
          </a:prstGeom>
          <a:noFill/>
        </p:spPr>
        <p:txBody>
          <a:bodyPr wrap="square" anchor="ctr" lIns="45720" rIns="45720">
            <a:spAutoFit/>
          </a:bodyPr>
          <a:lstStyle/>
          <a:p>
            <a:pPr>
              <a:buNone/>
            </a:pPr>
            <a:r>
              <a:rPr sz="2000">
                <a:solidFill>
                  <a:srgbClr val="232F3E"/>
                </a:solidFill>
              </a:rPr>
              <a:t>Trade-offs &amp; Limits</a:t>
            </a:r>
          </a:p>
        </p:txBody>
      </p:sp>
      <p:sp>
        <p:nvSpPr>
          <p:cNvPr id="14" name="Rounded Rectangle 13"/>
          <p:cNvSpPr/>
          <p:nvPr/>
        </p:nvSpPr>
        <p:spPr>
          <a:xfrm>
            <a:off x="5760720" y="3822191"/>
            <a:ext cx="1600200" cy="420624"/>
          </a:xfrm>
          <a:prstGeom prst="roundRect">
            <a:avLst>
              <a:gd name="adj" fmla="val 50000"/>
            </a:avLst>
          </a:prstGeom>
          <a:solidFill>
            <a:srgbClr val="C00000"/>
          </a:solidFill>
          <a:ln>
            <a:noFill/>
          </a:ln>
        </p:spPr>
        <p:txBody>
          <a:bodyPr rtlCol="0" anchor="ctr" wrap="square" lIns="54864" rIns="54864" tIns="38404" bIns="38404"/>
          <a:lstStyle/>
          <a:p>
            <a:pPr algn="ctr">
              <a:buNone/>
            </a:pPr>
            <a:r>
              <a:rPr b="1" sz="1400">
                <a:solidFill>
                  <a:srgbClr val="FFFFFF"/>
                </a:solidFill>
              </a:rPr>
              <a:t>MISSING</a:t>
            </a:r>
          </a:p>
        </p:txBody>
      </p:sp>
      <p:sp>
        <p:nvSpPr>
          <p:cNvPr id="15" name="TextBox 14"/>
          <p:cNvSpPr txBox="1"/>
          <p:nvPr/>
        </p:nvSpPr>
        <p:spPr>
          <a:xfrm>
            <a:off x="731520" y="4553712"/>
            <a:ext cx="4937760" cy="457200"/>
          </a:xfrm>
          <a:prstGeom prst="rect">
            <a:avLst/>
          </a:prstGeom>
          <a:noFill/>
        </p:spPr>
        <p:txBody>
          <a:bodyPr wrap="square" anchor="ctr" lIns="45720" rIns="45720">
            <a:spAutoFit/>
          </a:bodyPr>
          <a:lstStyle/>
          <a:p>
            <a:pPr>
              <a:buNone/>
            </a:pPr>
            <a:r>
              <a:rPr sz="2000">
                <a:solidFill>
                  <a:srgbClr val="232F3E"/>
                </a:solidFill>
              </a:rPr>
              <a:t>Clarity &amp; Structure</a:t>
            </a:r>
          </a:p>
        </p:txBody>
      </p:sp>
      <p:sp>
        <p:nvSpPr>
          <p:cNvPr id="16" name="Rounded Rectangle 15"/>
          <p:cNvSpPr/>
          <p:nvPr/>
        </p:nvSpPr>
        <p:spPr>
          <a:xfrm>
            <a:off x="5760720" y="4571999"/>
            <a:ext cx="1600200" cy="420624"/>
          </a:xfrm>
          <a:prstGeom prst="roundRect">
            <a:avLst>
              <a:gd name="adj" fmla="val 50000"/>
            </a:avLst>
          </a:prstGeom>
          <a:solidFill>
            <a:srgbClr val="B45908"/>
          </a:solidFill>
          <a:ln>
            <a:noFill/>
          </a:ln>
        </p:spPr>
        <p:txBody>
          <a:bodyPr rtlCol="0" anchor="ctr" wrap="square" lIns="54864" rIns="54864" tIns="38404" bIns="38404"/>
          <a:lstStyle/>
          <a:p>
            <a:pPr algn="ctr">
              <a:buNone/>
            </a:pPr>
            <a:r>
              <a:rPr b="1" sz="1400">
                <a:solidFill>
                  <a:srgbClr val="FFFFFF"/>
                </a:solidFill>
              </a:rPr>
              <a:t>PARTIAL</a:t>
            </a:r>
          </a:p>
        </p:txBody>
      </p:sp>
      <p:sp>
        <p:nvSpPr>
          <p:cNvPr id="17" name="Rounded Rectangle 16"/>
          <p:cNvSpPr/>
          <p:nvPr/>
        </p:nvSpPr>
        <p:spPr>
          <a:xfrm>
            <a:off x="7863840" y="1463040"/>
            <a:ext cx="3931920" cy="393192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200">
                <a:solidFill>
                  <a:srgbClr val="232F3E"/>
                </a:solidFill>
              </a:rPr>
              <a:t>If she'd submitted it</a:t>
            </a:r>
          </a:p>
          <a:p>
            <a:pPr algn="ctr">
              <a:spcAft>
                <a:spcPts val="800"/>
              </a:spcAft>
              <a:buNone/>
            </a:pPr>
            <a:r>
              <a:rPr b="1" sz="8000">
                <a:solidFill>
                  <a:srgbClr val="C00000"/>
                </a:solidFill>
              </a:rPr>
              <a:t>F</a:t>
            </a:r>
          </a:p>
          <a:p>
            <a:pPr algn="ctr">
              <a:spcAft>
                <a:spcPts val="800"/>
              </a:spcAft>
              <a:buNone/>
            </a:pPr>
            <a:r>
              <a:rPr sz="1900">
                <a:solidFill>
                  <a:srgbClr val="232F3E"/>
                </a:solidFill>
              </a:rPr>
              <a:t>≈ 13% in Grade mode</a:t>
            </a:r>
          </a:p>
          <a:p>
            <a:pPr algn="ctr">
              <a:spcAft>
                <a:spcPts val="800"/>
              </a:spcAft>
              <a:buNone/>
            </a:pPr>
            <a:r>
              <a:rPr sz="1800">
                <a:solidFill>
                  <a:srgbClr val="232F3E"/>
                </a:solidFill>
              </a:rPr>
              <a:t>Triage shows her </a:t>
            </a:r>
            <a:r>
              <a:rPr b="1" sz="1800">
                <a:solidFill>
                  <a:srgbClr val="156082"/>
                </a:solidFill>
              </a:rPr>
              <a:t>days before the deadline</a:t>
            </a:r>
            <a:r>
              <a:rPr sz="1800">
                <a:solidFill>
                  <a:srgbClr val="232F3E"/>
                </a:solidFill>
              </a:rPr>
              <a:t> instead.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The limits are the design</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TextBox 6"/>
          <p:cNvSpPr txBox="1"/>
          <p:nvPr/>
        </p:nvSpPr>
        <p:spPr>
          <a:xfrm>
            <a:off x="548640" y="1463040"/>
            <a:ext cx="6035040" cy="4389120"/>
          </a:xfrm>
          <a:prstGeom prst="rect">
            <a:avLst/>
          </a:prstGeom>
          <a:noFill/>
        </p:spPr>
        <p:txBody>
          <a:bodyPr wrap="square" anchor="t" lIns="45720" rIns="45720">
            <a:spAutoFit/>
          </a:bodyPr>
          <a:lstStyle/>
          <a:p>
            <a:pPr marL="342900" indent="-342900">
              <a:spcAft>
                <a:spcPts val="1600"/>
              </a:spcAft>
              <a:buFont typeface="Arial"/>
              <a:buChar char="•"/>
            </a:pPr>
            <a:r>
              <a:rPr sz="2300">
                <a:solidFill>
                  <a:srgbClr val="232F3E"/>
                </a:solidFill>
              </a:rPr>
              <a:t>Checks </a:t>
            </a:r>
            <a:r>
              <a:rPr b="1" sz="2300">
                <a:solidFill>
                  <a:srgbClr val="156082"/>
                </a:solidFill>
              </a:rPr>
              <a:t>completeness</a:t>
            </a:r>
            <a:r>
              <a:rPr sz="2300">
                <a:solidFill>
                  <a:srgbClr val="232F3E"/>
                </a:solidFill>
              </a:rPr>
              <a:t> only</a:t>
            </a:r>
          </a:p>
          <a:p>
            <a:pPr marL="342900" indent="-342900">
              <a:spcAft>
                <a:spcPts val="1600"/>
              </a:spcAft>
              <a:buFont typeface="Arial"/>
              <a:buChar char="•"/>
            </a:pPr>
            <a:r>
              <a:rPr sz="2300">
                <a:solidFill>
                  <a:srgbClr val="232F3E"/>
                </a:solidFill>
              </a:rPr>
              <a:t>Never gives a </a:t>
            </a:r>
            <a:r>
              <a:rPr b="1" sz="2300">
                <a:solidFill>
                  <a:srgbClr val="156082"/>
                </a:solidFill>
              </a:rPr>
              <a:t>score</a:t>
            </a:r>
            <a:r>
              <a:rPr sz="2300">
                <a:solidFill>
                  <a:srgbClr val="232F3E"/>
                </a:solidFill>
              </a:rPr>
              <a:t>, tier, or grade</a:t>
            </a:r>
          </a:p>
          <a:p>
            <a:pPr marL="342900" indent="-342900">
              <a:spcAft>
                <a:spcPts val="1600"/>
              </a:spcAft>
              <a:buFont typeface="Arial"/>
              <a:buChar char="•"/>
            </a:pPr>
            <a:r>
              <a:rPr sz="2300">
                <a:solidFill>
                  <a:srgbClr val="232F3E"/>
                </a:solidFill>
              </a:rPr>
              <a:t>Never </a:t>
            </a:r>
            <a:r>
              <a:rPr b="1" sz="2300">
                <a:solidFill>
                  <a:srgbClr val="156082"/>
                </a:solidFill>
              </a:rPr>
              <a:t>rewrites</a:t>
            </a:r>
            <a:r>
              <a:rPr sz="2300">
                <a:solidFill>
                  <a:srgbClr val="232F3E"/>
                </a:solidFill>
              </a:rPr>
              <a:t> or suggests text</a:t>
            </a:r>
          </a:p>
          <a:p>
            <a:pPr marL="342900" indent="-342900">
              <a:spcAft>
                <a:spcPts val="1600"/>
              </a:spcAft>
              <a:buFont typeface="Arial"/>
              <a:buChar char="•"/>
            </a:pPr>
            <a:r>
              <a:rPr sz="2300">
                <a:solidFill>
                  <a:srgbClr val="232F3E"/>
                </a:solidFill>
              </a:rPr>
              <a:t>The student revises. </a:t>
            </a:r>
            <a:r>
              <a:rPr b="1" sz="2300">
                <a:solidFill>
                  <a:srgbClr val="156082"/>
                </a:solidFill>
              </a:rPr>
              <a:t>The instructor grades.</a:t>
            </a:r>
          </a:p>
        </p:txBody>
      </p:sp>
      <p:sp>
        <p:nvSpPr>
          <p:cNvPr id="8" name="Rounded Rectangle 7"/>
          <p:cNvSpPr/>
          <p:nvPr/>
        </p:nvSpPr>
        <p:spPr>
          <a:xfrm>
            <a:off x="6903720" y="1463040"/>
            <a:ext cx="4892040" cy="28346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t" wrap="square" lIns="274320" rIns="274320" tIns="192024" bIns="192024"/>
          <a:lstStyle/>
          <a:p>
            <a:pPr algn="ctr">
              <a:spcAft>
                <a:spcPts val="1000"/>
              </a:spcAft>
              <a:buNone/>
            </a:pPr>
            <a:r>
              <a:rPr i="1" sz="2200">
                <a:solidFill>
                  <a:srgbClr val="232F3E"/>
                </a:solidFill>
              </a:rPr>
              <a:t>The honest limit</a:t>
            </a:r>
          </a:p>
          <a:p>
            <a:pPr algn="l">
              <a:spcAft>
                <a:spcPts val="800"/>
              </a:spcAft>
              <a:buNone/>
            </a:pPr>
            <a:r>
              <a:rPr sz="1900">
                <a:solidFill>
                  <a:srgbClr val="232F3E"/>
                </a:solidFill>
              </a:rPr>
              <a:t>Triage will pass Marcus's running-time section.</a:t>
            </a:r>
          </a:p>
          <a:p>
            <a:pPr algn="l">
              <a:spcAft>
                <a:spcPts val="800"/>
              </a:spcAft>
              <a:buNone/>
            </a:pPr>
            <a:r>
              <a:rPr sz="1900">
                <a:solidFill>
                  <a:srgbClr val="232F3E"/>
                </a:solidFill>
              </a:rPr>
              <a:t>His claims are </a:t>
            </a:r>
            <a:r>
              <a:rPr b="1" sz="1900">
                <a:solidFill>
                  <a:srgbClr val="156082"/>
                </a:solidFill>
              </a:rPr>
              <a:t>present</a:t>
            </a:r>
            <a:r>
              <a:rPr sz="1900">
                <a:solidFill>
                  <a:srgbClr val="232F3E"/>
                </a:solidFill>
              </a:rPr>
              <a:t> — just wrong.</a:t>
            </a:r>
          </a:p>
          <a:p>
            <a:pPr algn="ctr">
              <a:spcBef>
                <a:spcPts val="1000"/>
              </a:spcBef>
              <a:spcAft>
                <a:spcPts val="800"/>
              </a:spcAft>
              <a:buNone/>
            </a:pPr>
            <a:r>
              <a:rPr b="1" i="1" sz="1900">
                <a:solidFill>
                  <a:srgbClr val="232F3E"/>
                </a:solidFill>
              </a:rPr>
              <a:t>Present is not the same as correct.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Break it</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731520" y="14630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“Fix my introduction.”</a:t>
            </a:r>
          </a:p>
        </p:txBody>
      </p:sp>
      <p:sp>
        <p:nvSpPr>
          <p:cNvPr id="8" name="Rounded Rectangle 7"/>
          <p:cNvSpPr/>
          <p:nvPr/>
        </p:nvSpPr>
        <p:spPr>
          <a:xfrm>
            <a:off x="6217920" y="14630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“What grade would I get?”</a:t>
            </a:r>
          </a:p>
        </p:txBody>
      </p:sp>
      <p:sp>
        <p:nvSpPr>
          <p:cNvPr id="9" name="Rounded Rectangle 8"/>
          <p:cNvSpPr/>
          <p:nvPr/>
        </p:nvSpPr>
        <p:spPr>
          <a:xfrm>
            <a:off x="731520" y="28346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“Write my thesis for me.”</a:t>
            </a:r>
          </a:p>
        </p:txBody>
      </p:sp>
      <p:sp>
        <p:nvSpPr>
          <p:cNvPr id="10" name="Rounded Rectangle 9"/>
          <p:cNvSpPr/>
          <p:nvPr/>
        </p:nvSpPr>
        <p:spPr>
          <a:xfrm>
            <a:off x="6217920" y="2834640"/>
            <a:ext cx="5212080" cy="1097280"/>
          </a:xfrm>
          <a:prstGeom prst="roundRect">
            <a:avLst>
              <a:gd name="adj" fmla="val 18000"/>
            </a:avLst>
          </a:prstGeom>
          <a:solidFill>
            <a:srgbClr val="0E2841"/>
          </a:solidFill>
          <a:ln>
            <a:noFill/>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600"/>
              </a:spcAft>
              <a:buNone/>
            </a:pPr>
            <a:r>
              <a:rPr b="1" sz="2200">
                <a:solidFill>
                  <a:srgbClr val="FFFFFF"/>
                </a:solidFill>
              </a:rPr>
              <a:t>“Just give me one sentence to add.”</a:t>
            </a:r>
          </a:p>
        </p:txBody>
      </p:sp>
      <p:sp>
        <p:nvSpPr>
          <p:cNvPr id="11" name="TextBox 10"/>
          <p:cNvSpPr txBox="1"/>
          <p:nvPr/>
        </p:nvSpPr>
        <p:spPr>
          <a:xfrm>
            <a:off x="731520" y="4434840"/>
            <a:ext cx="10698480" cy="1280160"/>
          </a:xfrm>
          <a:prstGeom prst="rect">
            <a:avLst/>
          </a:prstGeom>
          <a:noFill/>
        </p:spPr>
        <p:txBody>
          <a:bodyPr wrap="square" anchor="t" lIns="45720" rIns="45720">
            <a:spAutoFit/>
          </a:bodyPr>
          <a:lstStyle/>
          <a:p>
            <a:pPr algn="ctr">
              <a:buNone/>
            </a:pPr>
            <a:r>
              <a:rPr i="1" sz="2100">
                <a:solidFill>
                  <a:srgbClr val="5F6B7A"/>
                </a:solidFill>
              </a:rPr>
              <a:t>Every one should be refused.</a:t>
            </a:r>
          </a:p>
          <a:p>
            <a:pPr algn="ctr">
              <a:buNone/>
            </a:pPr>
            <a:r>
              <a:rPr i="1" sz="2100">
                <a:solidFill>
                  <a:srgbClr val="5F6B7A"/>
                </a:solidFill>
              </a:rPr>
              <a:t>If one gets through, tell us — that's a finding, not a failure.</a:t>
            </a:r>
          </a:p>
        </p:txBody>
      </p:sp>
      <p:sp>
        <p:nvSpPr>
          <p:cNvPr id="12" name="Rounded Rectangle 11"/>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7 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Your turn: Triage for your rubric</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Chevron 6"/>
          <p:cNvSpPr/>
          <p:nvPr/>
        </p:nvSpPr>
        <p:spPr>
          <a:xfrm rot="5400000">
            <a:off x="576071" y="1609344"/>
            <a:ext cx="1152144" cy="658368"/>
          </a:xfrm>
          <a:prstGeom prst="chevron">
            <a:avLst/>
          </a:prstGeom>
          <a:solidFill>
            <a:srgbClr val="156082"/>
          </a:solidFill>
          <a:ln>
            <a:noFill/>
          </a:ln>
        </p:spPr>
        <p:txBody>
          <a:bodyPr rtlCol="0" anchor="ctr"/>
          <a:lstStyle/>
          <a:p>
            <a:pPr algn="ctr"/>
          </a:p>
        </p:txBody>
      </p:sp>
      <p:sp>
        <p:nvSpPr>
          <p:cNvPr id="8" name="Rounded Rectangle 7"/>
          <p:cNvSpPr/>
          <p:nvPr/>
        </p:nvSpPr>
        <p:spPr>
          <a:xfrm>
            <a:off x="1444752" y="1417320"/>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Open</a:t>
            </a:r>
            <a:r>
              <a:rPr sz="2000">
                <a:solidFill>
                  <a:srgbClr val="232F3E"/>
                </a:solidFill>
              </a:rPr>
              <a:t> the Triage app</a:t>
            </a:r>
          </a:p>
        </p:txBody>
      </p:sp>
      <p:sp>
        <p:nvSpPr>
          <p:cNvPr id="9" name="Chevron 8"/>
          <p:cNvSpPr/>
          <p:nvPr/>
        </p:nvSpPr>
        <p:spPr>
          <a:xfrm rot="5400000">
            <a:off x="576071" y="2651760"/>
            <a:ext cx="1152144" cy="658368"/>
          </a:xfrm>
          <a:prstGeom prst="chevron">
            <a:avLst/>
          </a:prstGeom>
          <a:solidFill>
            <a:srgbClr val="156082"/>
          </a:solidFill>
          <a:ln>
            <a:noFill/>
          </a:ln>
        </p:spPr>
        <p:txBody>
          <a:bodyPr rtlCol="0" anchor="ctr"/>
          <a:lstStyle/>
          <a:p>
            <a:pPr algn="ctr"/>
          </a:p>
        </p:txBody>
      </p:sp>
      <p:sp>
        <p:nvSpPr>
          <p:cNvPr id="10" name="Rounded Rectangle 9"/>
          <p:cNvSpPr/>
          <p:nvPr/>
        </p:nvSpPr>
        <p:spPr>
          <a:xfrm>
            <a:off x="1444752" y="2459736"/>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Paste</a:t>
            </a:r>
            <a:r>
              <a:rPr sz="2000">
                <a:solidFill>
                  <a:srgbClr val="232F3E"/>
                </a:solidFill>
              </a:rPr>
              <a:t> the rubric you built earlier</a:t>
            </a:r>
          </a:p>
        </p:txBody>
      </p:sp>
      <p:sp>
        <p:nvSpPr>
          <p:cNvPr id="11" name="Chevron 10"/>
          <p:cNvSpPr/>
          <p:nvPr/>
        </p:nvSpPr>
        <p:spPr>
          <a:xfrm rot="5400000">
            <a:off x="576071" y="3694176"/>
            <a:ext cx="1152144" cy="658368"/>
          </a:xfrm>
          <a:prstGeom prst="chevron">
            <a:avLst/>
          </a:prstGeom>
          <a:solidFill>
            <a:srgbClr val="156082"/>
          </a:solidFill>
          <a:ln>
            <a:noFill/>
          </a:ln>
        </p:spPr>
        <p:txBody>
          <a:bodyPr rtlCol="0" anchor="ctr"/>
          <a:lstStyle/>
          <a:p>
            <a:pPr algn="ctr"/>
          </a:p>
        </p:txBody>
      </p:sp>
      <p:sp>
        <p:nvSpPr>
          <p:cNvPr id="12" name="Rounded Rectangle 11"/>
          <p:cNvSpPr/>
          <p:nvPr/>
        </p:nvSpPr>
        <p:spPr>
          <a:xfrm>
            <a:off x="1444752" y="3502152"/>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Upload</a:t>
            </a:r>
            <a:r>
              <a:rPr sz="2000">
                <a:solidFill>
                  <a:srgbClr val="232F3E"/>
                </a:solidFill>
              </a:rPr>
              <a:t> a draft — write a quick fake one, or use Leila's</a:t>
            </a:r>
          </a:p>
        </p:txBody>
      </p:sp>
      <p:sp>
        <p:nvSpPr>
          <p:cNvPr id="13" name="Chevron 12"/>
          <p:cNvSpPr/>
          <p:nvPr/>
        </p:nvSpPr>
        <p:spPr>
          <a:xfrm rot="5400000">
            <a:off x="576071" y="4736592"/>
            <a:ext cx="1152144" cy="658368"/>
          </a:xfrm>
          <a:prstGeom prst="chevron">
            <a:avLst/>
          </a:prstGeom>
          <a:solidFill>
            <a:srgbClr val="156082"/>
          </a:solidFill>
          <a:ln>
            <a:noFill/>
          </a:ln>
        </p:spPr>
        <p:txBody>
          <a:bodyPr rtlCol="0" anchor="ctr"/>
          <a:lstStyle/>
          <a:p>
            <a:pPr algn="ctr"/>
          </a:p>
        </p:txBody>
      </p:sp>
      <p:sp>
        <p:nvSpPr>
          <p:cNvPr id="14" name="Rounded Rectangle 13"/>
          <p:cNvSpPr/>
          <p:nvPr/>
        </p:nvSpPr>
        <p:spPr>
          <a:xfrm>
            <a:off x="1444752" y="4544568"/>
            <a:ext cx="9893808" cy="804672"/>
          </a:xfrm>
          <a:prstGeom prst="roundRect">
            <a:avLst>
              <a:gd name="adj" fmla="val 16000"/>
            </a:avLst>
          </a:prstGeom>
          <a:solidFill>
            <a:srgbClr val="FFFFFF"/>
          </a:solidFill>
          <a:ln w="19050">
            <a:solidFill>
              <a:srgbClr val="156082"/>
            </a:solidFill>
          </a:ln>
        </p:spPr>
        <p:txBody>
          <a:bodyPr rtlCol="0" anchor="ctr" wrap="square" lIns="201168" rIns="201168" tIns="140817" bIns="140817"/>
          <a:lstStyle/>
          <a:p>
            <a:pPr algn="l">
              <a:buNone/>
            </a:pPr>
            <a:r>
              <a:rPr b="1" sz="2000">
                <a:solidFill>
                  <a:srgbClr val="156082"/>
                </a:solidFill>
              </a:rPr>
              <a:t>Check</a:t>
            </a:r>
            <a:r>
              <a:rPr sz="2000">
                <a:solidFill>
                  <a:srgbClr val="232F3E"/>
                </a:solidFill>
              </a:rPr>
              <a:t> that every status quotes a passage from the draft</a:t>
            </a:r>
          </a:p>
        </p:txBody>
      </p:sp>
      <p:sp>
        <p:nvSpPr>
          <p:cNvPr id="15" name="Rounded Rectangle 14"/>
          <p:cNvSpPr/>
          <p:nvPr/>
        </p:nvSpPr>
        <p:spPr>
          <a:xfrm>
            <a:off x="9189720" y="6336792"/>
            <a:ext cx="2011680" cy="365760"/>
          </a:xfrm>
          <a:prstGeom prst="roundRect">
            <a:avLst>
              <a:gd name="adj" fmla="val 50000"/>
            </a:avLst>
          </a:prstGeom>
          <a:gradFill rotWithShape="1">
            <a:gsLst>
              <a:gs pos="0">
                <a:srgbClr val="F66C02"/>
              </a:gs>
              <a:gs pos="53000">
                <a:srgbClr val="FF28EF"/>
              </a:gs>
              <a:gs pos="100000">
                <a:srgbClr val="0F65F9"/>
              </a:gs>
            </a:gsLst>
            <a:lin ang="0" scaled="1"/>
          </a:gradFill>
          <a:ln>
            <a:noFill/>
          </a:ln>
        </p:spPr>
        <p:txBody>
          <a:bodyPr rtlCol="0" anchor="ctr" wrap="square" lIns="73152" rIns="73152" tIns="51206" bIns="51206"/>
          <a:lstStyle/>
          <a:p>
            <a:pPr algn="ctr">
              <a:buNone/>
            </a:pPr>
            <a:r>
              <a:rPr b="1" sz="1300">
                <a:solidFill>
                  <a:srgbClr val="FFFFFF"/>
                </a:solidFill>
              </a:rPr>
              <a:t>HANDS-ON · 8 MIN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What you leave with</a:t>
            </a:r>
          </a:p>
        </p:txBody>
      </p:sp>
      <p:grpSp>
        <p:nvGrpSpPr>
          <p:cNvPr id="3"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4"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5"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6"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7" name="Rounded Rectangle 6"/>
          <p:cNvSpPr/>
          <p:nvPr/>
        </p:nvSpPr>
        <p:spPr>
          <a:xfrm>
            <a:off x="457200"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A rubric</a:t>
            </a:r>
          </a:p>
          <a:p>
            <a:pPr algn="ctr">
              <a:spcAft>
                <a:spcPts val="800"/>
              </a:spcAft>
              <a:buNone/>
            </a:pPr>
            <a:r>
              <a:rPr sz="1800">
                <a:solidFill>
                  <a:srgbClr val="232F3E"/>
                </a:solidFill>
              </a:rPr>
              <a:t>for one of your own assignments</a:t>
            </a:r>
          </a:p>
        </p:txBody>
      </p:sp>
      <p:sp>
        <p:nvSpPr>
          <p:cNvPr id="8" name="Rounded Rectangle 7"/>
          <p:cNvSpPr/>
          <p:nvPr/>
        </p:nvSpPr>
        <p:spPr>
          <a:xfrm>
            <a:off x="3328416"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A hardened assignment</a:t>
            </a:r>
          </a:p>
          <a:p>
            <a:pPr algn="ctr">
              <a:spcAft>
                <a:spcPts val="800"/>
              </a:spcAft>
              <a:buNone/>
            </a:pPr>
            <a:r>
              <a:rPr sz="1800">
                <a:solidFill>
                  <a:srgbClr val="232F3E"/>
                </a:solidFill>
              </a:rPr>
              <a:t>revised where a chatbot could do the work</a:t>
            </a:r>
          </a:p>
        </p:txBody>
      </p:sp>
      <p:sp>
        <p:nvSpPr>
          <p:cNvPr id="9" name="Rounded Rectangle 8"/>
          <p:cNvSpPr/>
          <p:nvPr/>
        </p:nvSpPr>
        <p:spPr>
          <a:xfrm>
            <a:off x="6199632"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Triage, set up</a:t>
            </a:r>
          </a:p>
          <a:p>
            <a:pPr algn="ctr">
              <a:spcAft>
                <a:spcPts val="800"/>
              </a:spcAft>
              <a:buNone/>
            </a:pPr>
            <a:r>
              <a:rPr sz="1800">
                <a:solidFill>
                  <a:srgbClr val="232F3E"/>
                </a:solidFill>
              </a:rPr>
              <a:t>for your rubric, ready for students</a:t>
            </a:r>
          </a:p>
        </p:txBody>
      </p:sp>
      <p:sp>
        <p:nvSpPr>
          <p:cNvPr id="10" name="Rounded Rectangle 9"/>
          <p:cNvSpPr/>
          <p:nvPr/>
        </p:nvSpPr>
        <p:spPr>
          <a:xfrm>
            <a:off x="9070848" y="1645920"/>
            <a:ext cx="2651760" cy="3291840"/>
          </a:xfrm>
          <a:prstGeom prst="roundRect">
            <a:avLst>
              <a:gd name="adj" fmla="val 12000"/>
            </a:avLst>
          </a:prstGeom>
          <a:solidFill>
            <a:srgbClr val="FFFFFF"/>
          </a:solid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a:outerShdw blurRad="50800" dist="38100" dir="2700000" algn="tl" rotWithShape="0">
              <a:prstClr val="black">
                <a:alpha val="40000"/>
              </a:prstClr>
            </a:outerShdw>
          </a:effectLst>
        </p:spPr>
        <p:txBody>
          <a:bodyPr rtlCol="0" anchor="ctr" wrap="square" lIns="274320" rIns="274320" tIns="192024" bIns="192024"/>
          <a:lstStyle/>
          <a:p>
            <a:pPr algn="ctr">
              <a:spcAft>
                <a:spcPts val="1000"/>
              </a:spcAft>
              <a:buNone/>
            </a:pPr>
            <a:r>
              <a:rPr i="1" sz="2100">
                <a:solidFill>
                  <a:srgbClr val="232F3E"/>
                </a:solidFill>
              </a:rPr>
              <a:t>The take-home kit</a:t>
            </a:r>
          </a:p>
          <a:p>
            <a:pPr algn="ctr">
              <a:spcAft>
                <a:spcPts val="800"/>
              </a:spcAft>
              <a:buNone/>
            </a:pPr>
            <a:r>
              <a:rPr sz="1800">
                <a:solidFill>
                  <a:srgbClr val="232F3E"/>
                </a:solidFill>
              </a:rPr>
              <a:t>build prompts, the rubric format, the guardrail checklist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
          </p:nvPr>
        </p:nvSpPr>
        <p:spPr/>
        <p:txBody>
          <a:bodyPr wrap="square"/>
          <a:lstStyle/>
          <a:p>
            <a:r>
              <a:t>Ground rules</a:t>
            </a:r>
          </a:p>
        </p:txBody>
      </p:sp>
      <p:sp>
        <p:nvSpPr>
          <p:cNvPr id="3" name="Content Placeholder 2"/>
          <p:cNvSpPr>
            <a:spLocks noGrp="1"/>
          </p:cNvSpPr>
          <p:nvPr>
            <p:ph idx="2"/>
          </p:nvPr>
        </p:nvSpPr>
        <p:spPr/>
        <p:txBody>
          <a:bodyPr wrap="square"/>
          <a:lstStyle/>
          <a:p>
            <a:pPr>
              <a:spcAft>
                <a:spcPts val="1800"/>
              </a:spcAft>
            </a:pPr>
            <a:r>
              <a:rPr b="1" sz="2600">
                <a:solidFill>
                  <a:srgbClr val="156082"/>
                </a:solidFill>
              </a:rPr>
              <a:t>Draft, not verdict.</a:t>
            </a:r>
            <a:r>
              <a:rPr sz="2600"/>
              <a:t> These tools prepare; you decide.</a:t>
            </a:r>
          </a:p>
          <a:p>
            <a:pPr>
              <a:spcAft>
                <a:spcPts val="1800"/>
              </a:spcAft>
            </a:pPr>
            <a:r>
              <a:rPr b="1" sz="2600">
                <a:solidFill>
                  <a:srgbClr val="156082"/>
                </a:solidFill>
              </a:rPr>
              <a:t>Student work is a protected record.</a:t>
            </a:r>
            <a:r>
              <a:rPr sz="2600"/>
              <a:t> Synthetic data here; approved systems at home.</a:t>
            </a:r>
          </a:p>
          <a:p>
            <a:pPr>
              <a:spcAft>
                <a:spcPts val="1800"/>
              </a:spcAft>
            </a:pPr>
            <a:r>
              <a:rPr b="1" sz="2600">
                <a:solidFill>
                  <a:srgbClr val="156082"/>
                </a:solidFill>
              </a:rPr>
              <a:t>Not an integrity tool.</a:t>
            </a:r>
            <a:r>
              <a:rPr sz="2600"/>
              <a:t> Nothing here detects plagiarism or AI writing.</a:t>
            </a:r>
          </a:p>
          <a:p>
            <a:pPr>
              <a:spcAft>
                <a:spcPts val="1800"/>
              </a:spcAft>
            </a:pPr>
            <a:r>
              <a:rPr b="1" sz="2600">
                <a:solidFill>
                  <a:srgbClr val="156082"/>
                </a:solidFill>
              </a:rPr>
              <a:t>You grade.</a:t>
            </a:r>
            <a:r>
              <a:rPr sz="2600"/>
              <a:t> Always.</a:t>
            </a:r>
          </a:p>
        </p:txBody>
      </p:sp>
      <p:grpSp>
        <p:nvGrpSpPr>
          <p:cNvPr id="4" name="Group 8">
            <a:extLst>
              <a:ext uri="{FF2B5EF4-FFF2-40B4-BE49-F238E27FC236}">
                <a16:creationId xmlns:a16="http://schemas.microsoft.com/office/drawing/2014/main" id="{593AF3B1-3227-FCED-C8F1-E350CFCE8EDA}"/>
              </a:ext>
            </a:extLst>
          </p:cNvPr>
          <p:cNvGrpSpPr/>
          <p:nvPr/>
        </p:nvGrpSpPr>
        <p:grpSpPr>
          <a:xfrm>
            <a:off x="17318" y="6364432"/>
            <a:ext cx="961444" cy="415638"/>
            <a:chOff x="0" y="6364432"/>
            <a:chExt cx="961444" cy="415638"/>
          </a:xfrm>
        </p:grpSpPr>
        <p:pic>
          <p:nvPicPr>
            <p:cNvPr id="5" name="Picture 6" descr="A computer with blue text&#10;&#10;AI-generated content may be incorrect.">
              <a:extLst>
                <a:ext uri="{FF2B5EF4-FFF2-40B4-BE49-F238E27FC236}">
                  <a16:creationId xmlns:a16="http://schemas.microsoft.com/office/drawing/2014/main" id="{2AD2447E-1301-29BD-81D8-8148441ED689}"/>
                </a:ext>
              </a:extLst>
            </p:cNvPr>
            <p:cNvPicPr>
              <a:picLocks noChangeAspect="1"/>
            </p:cNvPicPr>
            <p:nvPr/>
          </p:nvPicPr>
          <p:blipFill>
            <a:blip r:embed="rId2"/>
            <a:stretch>
              <a:fillRect/>
            </a:stretch>
          </p:blipFill>
          <p:spPr>
            <a:xfrm>
              <a:off x="554285" y="6386118"/>
              <a:ext cx="407159" cy="361667"/>
            </a:xfrm>
            <a:prstGeom prst="rect">
              <a:avLst/>
            </a:prstGeom>
          </p:spPr>
        </p:pic>
        <p:pic>
          <p:nvPicPr>
            <p:cNvPr id="6" name="Picture 7" descr="A stack of books with a yellow bookmark&#10;&#10;AI-generated content may be incorrect.">
              <a:extLst>
                <a:ext uri="{FF2B5EF4-FFF2-40B4-BE49-F238E27FC236}">
                  <a16:creationId xmlns:a16="http://schemas.microsoft.com/office/drawing/2014/main" id="{49A4D62C-8B47-FE87-C5CF-BE22C6BDC151}"/>
                </a:ext>
              </a:extLst>
            </p:cNvPr>
            <p:cNvPicPr>
              <a:picLocks noChangeAspect="1"/>
            </p:cNvPicPr>
            <p:nvPr/>
          </p:nvPicPr>
          <p:blipFill>
            <a:blip r:embed="rId3"/>
            <a:stretch>
              <a:fillRect/>
            </a:stretch>
          </p:blipFill>
          <p:spPr>
            <a:xfrm>
              <a:off x="0" y="6364432"/>
              <a:ext cx="467592" cy="415638"/>
            </a:xfrm>
            <a:prstGeom prst="rect">
              <a:avLst/>
            </a:prstGeom>
          </p:spPr>
        </p:pic>
      </p:grpSp>
      <p:sp>
        <p:nvSpPr>
          <p:cNvPr id="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Template Colors">
      <a:dk1>
        <a:srgbClr val="232F3E"/>
      </a:dk1>
      <a:lt1>
        <a:srgbClr val="FFFFFF"/>
      </a:lt1>
      <a:dk2>
        <a:srgbClr val="330066"/>
      </a:dk2>
      <a:lt2>
        <a:srgbClr val="F1F3F3"/>
      </a:lt2>
      <a:accent1>
        <a:srgbClr val="DF2A5D"/>
      </a:accent1>
      <a:accent2>
        <a:srgbClr val="7C5AED"/>
      </a:accent2>
      <a:accent3>
        <a:srgbClr val="9F1D7B"/>
      </a:accent3>
      <a:accent4>
        <a:srgbClr val="F46EBB"/>
      </a:accent4>
      <a:accent5>
        <a:srgbClr val="7CE8F4"/>
      </a:accent5>
      <a:accent6>
        <a:srgbClr val="38EF7D"/>
      </a:accent6>
      <a:hlink>
        <a:srgbClr val="00B0F0"/>
      </a:hlink>
      <a:folHlink>
        <a:srgbClr val="7F7F7F"/>
      </a:folHlink>
    </a:clrScheme>
    <a:fontScheme name="Theme Font">
      <a:majorFont>
        <a:latin typeface="Amazon Ember Medium"/>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LUtemplatePPT" id="{DD9E0E70-69C8-48F5-BA64-CC51C88BAB8B}" vid="{F5240205-0F03-49E5-B46B-9DCFEB63EA1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392E4F-6FFD-7E4D-9FB9-2FC22D60312C}">
  <we:reference id="3d2b7d21-fda6-4380-b3d4-39ac6c78a05c" version="1.0.1.6"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BE6A1BFB4CA9468D84B125F7C1F0C7" ma:contentTypeVersion="13" ma:contentTypeDescription="Create a new document." ma:contentTypeScope="" ma:versionID="b06231669be6eb5acc96978dd5a15ea7">
  <xsd:schema xmlns:xsd="http://www.w3.org/2001/XMLSchema" xmlns:xs="http://www.w3.org/2001/XMLSchema" xmlns:p="http://schemas.microsoft.com/office/2006/metadata/properties" xmlns:ns2="20de49a9-f81a-4c8d-ae58-57062fbfdfc2" xmlns:ns3="a161c079-57a4-46e0-a69b-a5a77b45dd11" targetNamespace="http://schemas.microsoft.com/office/2006/metadata/properties" ma:root="true" ma:fieldsID="d162d1fd4d017f512fcee4f8287bc6c9" ns2:_="" ns3:_="">
    <xsd:import namespace="20de49a9-f81a-4c8d-ae58-57062fbfdfc2"/>
    <xsd:import namespace="a161c079-57a4-46e0-a69b-a5a77b45dd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de49a9-f81a-4c8d-ae58-57062fbfdf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7839dc8-c537-42b6-a5a9-a537040d25b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61c079-57a4-46e0-a69b-a5a77b45dd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ed7e842-94fb-428c-962f-c3b174fd4a51}" ma:internalName="TaxCatchAll" ma:showField="CatchAllData" ma:web="a161c079-57a4-46e0-a69b-a5a77b45dd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161c079-57a4-46e0-a69b-a5a77b45dd11" xsi:nil="true"/>
    <lcf76f155ced4ddcb4097134ff3c332f xmlns="20de49a9-f81a-4c8d-ae58-57062fbfdfc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445CDBF-469E-44BB-AFE6-273C2413C1EB}">
  <ds:schemaRefs>
    <ds:schemaRef ds:uri="http://schemas.microsoft.com/sharepoint/v3/contenttype/forms"/>
  </ds:schemaRefs>
</ds:datastoreItem>
</file>

<file path=customXml/itemProps2.xml><?xml version="1.0" encoding="utf-8"?>
<ds:datastoreItem xmlns:ds="http://schemas.openxmlformats.org/officeDocument/2006/customXml" ds:itemID="{1567F39A-9341-484A-B13D-C8E8CA69BD53}">
  <ds:schemaRefs>
    <ds:schemaRef ds:uri="20de49a9-f81a-4c8d-ae58-57062fbfdfc2"/>
    <ds:schemaRef ds:uri="a161c079-57a4-46e0-a69b-a5a77b45dd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1E29C9-4C17-433C-8779-6CF6E83CB25C}">
  <ds:schemaRefs>
    <ds:schemaRef ds:uri="http://schemas.microsoft.com/office/2006/metadata/properties"/>
    <ds:schemaRef ds:uri="http://purl.org/dc/elements/1.1/"/>
    <ds:schemaRef ds:uri="http://www.w3.org/XML/1998/namespace"/>
    <ds:schemaRef ds:uri="http://purl.org/dc/terms/"/>
    <ds:schemaRef ds:uri="http://purl.org/dc/dcmitype/"/>
    <ds:schemaRef ds:uri="a161c079-57a4-46e0-a69b-a5a77b45dd11"/>
    <ds:schemaRef ds:uri="http://schemas.microsoft.com/office/2006/documentManagement/types"/>
    <ds:schemaRef ds:uri="http://schemas.microsoft.com/office/infopath/2007/PartnerControls"/>
    <ds:schemaRef ds:uri="http://schemas.openxmlformats.org/package/2006/metadata/core-properties"/>
    <ds:schemaRef ds:uri="20de49a9-f81a-4c8d-ae58-57062fbfdfc2"/>
  </ds:schemaRefs>
</ds:datastoreItem>
</file>

<file path=docProps/app.xml><?xml version="1.0" encoding="utf-8"?>
<Properties xmlns="http://schemas.openxmlformats.org/officeDocument/2006/extended-properties" xmlns:vt="http://schemas.openxmlformats.org/officeDocument/2006/docPropsVTypes">
  <Template/>
  <TotalTime>304</TotalTime>
  <Words>5193</Words>
  <Application>Microsoft Macintosh PowerPoint</Application>
  <PresentationFormat>Widescreen</PresentationFormat>
  <Paragraphs>523</Paragraphs>
  <Slides>48</Slides>
  <Notes>46</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48</vt:i4>
      </vt:variant>
    </vt:vector>
  </HeadingPairs>
  <TitlesOfParts>
    <vt:vector size="67" baseType="lpstr">
      <vt:lpstr>Amazon Ember</vt:lpstr>
      <vt:lpstr>Amazon Ember Display</vt:lpstr>
      <vt:lpstr>Amazon Ember Display Heavy</vt:lpstr>
      <vt:lpstr>Amazon Ember Display Medium</vt:lpstr>
      <vt:lpstr>Amazon Ember Heavy</vt:lpstr>
      <vt:lpstr>Amazon Ember Light</vt:lpstr>
      <vt:lpstr>Amazon Ember Medium</vt:lpstr>
      <vt:lpstr>Amazon Ember Mono</vt:lpstr>
      <vt:lpstr>Aptos</vt:lpstr>
      <vt:lpstr>Aptos Display</vt:lpstr>
      <vt:lpstr>Arial</vt:lpstr>
      <vt:lpstr>Calibri</vt:lpstr>
      <vt:lpstr>Consolas</vt:lpstr>
      <vt:lpstr>Courier New</vt:lpstr>
      <vt:lpstr>Lucida Console</vt:lpstr>
      <vt:lpstr>System Font Regular</vt:lpstr>
      <vt:lpstr>Wingdings</vt:lpstr>
      <vt:lpstr>1_Office Theme</vt:lpstr>
      <vt:lpstr>Custom Design</vt:lpstr>
      <vt:lpstr>Agentic AI: Essential Concepts for Builders</vt:lpstr>
      <vt:lpstr>https://tinyurl.com/2s3ne35c</vt:lpstr>
      <vt:lpstr>https://tinyurl.com/2rv6kujs</vt:lpstr>
      <vt:lpstr>Today’s activities</vt:lpstr>
      <vt:lpstr>Agentic AI Fundamentals</vt:lpstr>
      <vt:lpstr>Key questions</vt:lpstr>
      <vt:lpstr>LLMs vs. AI agents</vt:lpstr>
      <vt:lpstr>LLMs vs. AI agents examples</vt:lpstr>
      <vt:lpstr>Agentic AI Fundamentals</vt:lpstr>
      <vt:lpstr>Let’s begin with an example</vt:lpstr>
      <vt:lpstr>AI agent response example</vt:lpstr>
      <vt:lpstr>One Current AI Agent definition</vt:lpstr>
      <vt:lpstr>AI agents are…</vt:lpstr>
      <vt:lpstr>Agentic tasks</vt:lpstr>
      <vt:lpstr>What can AI agents do?</vt:lpstr>
      <vt:lpstr>How do the steps apply to our example?</vt:lpstr>
      <vt:lpstr>Let’s ask a chatbot about our costs</vt:lpstr>
      <vt:lpstr>LLMs can tell you a lot…</vt:lpstr>
      <vt:lpstr>…But AI agents can do something about it.</vt:lpstr>
      <vt:lpstr>Agentic AI Fundamentals</vt:lpstr>
      <vt:lpstr>AI agents with tools – identify tool(s)</vt:lpstr>
      <vt:lpstr>AI agents with tools – aggregate tool results</vt:lpstr>
      <vt:lpstr>Should I build a solution using agents or not?</vt:lpstr>
      <vt:lpstr>To agent or not to agent, that is the question</vt:lpstr>
      <vt:lpstr>Should I build a solution using agents or not?</vt:lpstr>
      <vt:lpstr>RAG or prompt engineering is sufficient</vt:lpstr>
      <vt:lpstr>Responsible AI and Agentic Evaluation</vt:lpstr>
      <vt:lpstr>A spectrum of autonomy</vt:lpstr>
      <vt:lpstr>Risks specific to agentic AI</vt:lpstr>
      <vt:lpstr>Risk assessment guide</vt:lpstr>
      <vt:lpstr>Responsible agent AI use</vt:lpstr>
      <vt:lpstr>Human in the loop (HITL)</vt:lpstr>
      <vt:lpstr>Agentic Orchestration Patterns and Landscape</vt:lpstr>
      <vt:lpstr>So you want to build an agent?</vt:lpstr>
      <vt:lpstr>Agent building – no/low code</vt:lpstr>
      <vt:lpstr>Agentic Orchestration Patterns and Landscape</vt:lpstr>
      <vt:lpstr>Use case 1: laptop support assistant</vt:lpstr>
      <vt:lpstr>Use case 2: product review helper</vt:lpstr>
      <vt:lpstr>Agentic Orchestration Patterns and Landscape</vt:lpstr>
      <vt:lpstr>AI visibility (Users vs Builders)</vt:lpstr>
      <vt:lpstr>How do you fit as a code-free persona?</vt:lpstr>
      <vt:lpstr>Code-free personas are builders now!</vt:lpstr>
      <vt:lpstr>Amazon Quick – Building code-free assistants</vt:lpstr>
      <vt:lpstr>Amazon Quick – Chat Agents</vt:lpstr>
      <vt:lpstr>Amazon Quick – Spaces</vt:lpstr>
      <vt:lpstr>Conclusion</vt:lpstr>
      <vt:lpstr>Key 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kabikg@amazon.com</dc:creator>
  <cp:lastModifiedBy>Tariq Hook</cp:lastModifiedBy>
  <cp:revision>41</cp:revision>
  <dcterms:created xsi:type="dcterms:W3CDTF">2020-06-01T16:08:56Z</dcterms:created>
  <dcterms:modified xsi:type="dcterms:W3CDTF">2026-07-13T14:07:12Z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2025-06-04T19:26:15Z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df151c90-885d-453f-81df-7cbda327fe88</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y fmtid="{D5CDD505-2E9C-101B-9397-08002B2CF9AE}" pid="10" name="ContentTypeId">
    <vt:lpwstr>0x010100DEBE6A1BFB4CA9468D84B125F7C1F0C7</vt:lpwstr>
  </property>
  <property fmtid="{D5CDD505-2E9C-101B-9397-08002B2CF9AE}" pid="11" name="MediaServiceImageTags">
    <vt:lpwstr/>
  </property>
</Properties>
</file>